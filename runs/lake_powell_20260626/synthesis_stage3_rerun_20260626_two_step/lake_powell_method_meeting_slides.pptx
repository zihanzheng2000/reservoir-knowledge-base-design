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4" r:id="rId2"/>
    <p:sldId id="275" r:id="rId3"/>
    <p:sldId id="276" r:id="rId4"/>
    <p:sldId id="279" r:id="rId5"/>
    <p:sldId id="280" r:id="rId6"/>
    <p:sldId id="278" r:id="rId7"/>
    <p:sldId id="257" r:id="rId8"/>
    <p:sldId id="258" r:id="rId9"/>
    <p:sldId id="256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6283" autoAdjust="0"/>
  </p:normalViewPr>
  <p:slideViewPr>
    <p:cSldViewPr snapToGrid="0" snapToObjects="1">
      <p:cViewPr varScale="1">
        <p:scale>
          <a:sx n="112" d="100"/>
          <a:sy n="112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C1495-3A34-422F-BE65-1ECF8A9951C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80160-66FA-4776-9D90-B036A4A67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1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`Operation Purpose`: authorized purposes, management objectives, or operational priorities such as water delivery, storage protection, hydropower, flood control, recreation, ecology, temperature management, or compact compliance.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`Operation Rules`: specific operating rules, thresholds, release tiers, release volumes, guide curves, triggers, if/then criteria, operating alternatives, or rule status such as current, projected, proposed, expired, or emergency.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`Infrastructure`: physical infrastructure and operating limits, including dam structure, outlet works, penstocks, turbines, powerplant, bypass tubes, river outlet works, minimum power pool, dead pool, low-water infrastructure, release capacity, and infrastructure modification.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`Real-Time / Emergency Operations`: actions taken or planned under immediate, drought, flood, emergency, maintenance, experimental, or special-event conditions. This category should describe an operational action under a condition, not merely the existence of a plan or agreement.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`Coordination / Governance`: agencies, laws, agreements, consultation processes, environmental compliance, tribal or stakeholder coordination, basin governance, operating documents, and decision authority.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`Operational Data`: datasets, monitoring records, forecasts, hydrologic products, reservoir elevation/release/inflow records, data portals, update frequency, variables, coverage, and how the data are used in operations.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`Research / Modeling / Analysis`: studies, models, experiments, technical reports, scenario analysis, environmental analysis, sediment/ecology/hydropower analysis, or methods that produce knowledge about Lake Powell or Glen Canyon Dam operations.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`Evidence Gap / Uncertainty`: missing evidence, weak source support, unresolved assumptions, data limitations, model uncertainty, future rule uncertainty, infrastructure uncertainty, or claims needing stronger official/data support.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80160-66FA-4776-9D90-B036A4A67E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4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80160-66FA-4776-9D90-B036A4A67E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46A1-8A51-4AC8-635E-DDF2B3C8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153071-F4DF-651B-4C24-3BE080081817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2500" b="1" dirty="0">
                <a:solidFill>
                  <a:srgbClr val="222A35"/>
                </a:solidFill>
                <a:latin typeface="Aptos"/>
              </a:rPr>
              <a:t>Niches of the method</a:t>
            </a:r>
            <a:endParaRPr sz="2500" b="1" dirty="0">
              <a:solidFill>
                <a:srgbClr val="222A35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813C9-869F-003C-2449-56381DA2FFB7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AB2DA-50B6-1E3D-219F-79D2B866E3DC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1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A317DA-FA56-0606-3A83-74A60BB71AA3}"/>
              </a:ext>
            </a:extLst>
          </p:cNvPr>
          <p:cNvSpPr/>
          <p:nvPr/>
        </p:nvSpPr>
        <p:spPr>
          <a:xfrm>
            <a:off x="685800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0BABCA-2AB1-9478-F9CF-3A132994B0DB}"/>
              </a:ext>
            </a:extLst>
          </p:cNvPr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93EC9C-7E40-7095-DAE4-B8D4796E1CCB}"/>
              </a:ext>
            </a:extLst>
          </p:cNvPr>
          <p:cNvSpPr txBox="1"/>
          <p:nvPr/>
        </p:nvSpPr>
        <p:spPr>
          <a:xfrm>
            <a:off x="886968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1500" b="1" dirty="0">
                <a:solidFill>
                  <a:srgbClr val="2A5FAA"/>
                </a:solidFill>
                <a:latin typeface="Aptos"/>
              </a:rPr>
              <a:t>Introduction</a:t>
            </a:r>
            <a:endParaRPr sz="1500" b="1" dirty="0">
              <a:solidFill>
                <a:srgbClr val="2A5FAA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9FACC-AA24-BE0D-4663-9910554EBF05}"/>
              </a:ext>
            </a:extLst>
          </p:cNvPr>
          <p:cNvSpPr txBox="1"/>
          <p:nvPr/>
        </p:nvSpPr>
        <p:spPr>
          <a:xfrm>
            <a:off x="886968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400" dirty="0"/>
              <a:t>The niche is not simply “using AI to summarize reservoir documents.” The method is for building a </a:t>
            </a:r>
            <a:r>
              <a:rPr lang="en-US" sz="1400" b="1" dirty="0"/>
              <a:t>source-grounded, reusable reservoir operation knowledge base</a:t>
            </a:r>
            <a:r>
              <a:rPr lang="en-US" sz="1400" dirty="0"/>
              <a:t> from </a:t>
            </a:r>
            <a:r>
              <a:rPr lang="en-US" sz="1400" b="1" dirty="0"/>
              <a:t>messy heterogeneous documents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The specific niche is:</a:t>
            </a:r>
          </a:p>
          <a:p>
            <a:r>
              <a:rPr lang="en-US" sz="1400" dirty="0"/>
              <a:t>It helps convert many fragmented reservoir documents into a structured representation of operational knowledge, while </a:t>
            </a:r>
            <a:r>
              <a:rPr lang="en-US" sz="1400" b="1" dirty="0"/>
              <a:t>keeping each higher-level claim traceable back to source evidence.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A38BC-6868-0A36-F7A1-9CB2729EA91E}"/>
              </a:ext>
            </a:extLst>
          </p:cNvPr>
          <p:cNvSpPr/>
          <p:nvPr/>
        </p:nvSpPr>
        <p:spPr>
          <a:xfrm>
            <a:off x="4370832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DE649-71B4-3195-0610-773E768D2B80}"/>
              </a:ext>
            </a:extLst>
          </p:cNvPr>
          <p:cNvSpPr/>
          <p:nvPr/>
        </p:nvSpPr>
        <p:spPr>
          <a:xfrm>
            <a:off x="4370832" y="1417320"/>
            <a:ext cx="73152" cy="429768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07408-7CE8-1800-1883-9CFF578DD2D7}"/>
              </a:ext>
            </a:extLst>
          </p:cNvPr>
          <p:cNvSpPr txBox="1"/>
          <p:nvPr/>
        </p:nvSpPr>
        <p:spPr>
          <a:xfrm>
            <a:off x="4572000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1500" b="1" dirty="0">
                <a:solidFill>
                  <a:srgbClr val="1A897D"/>
                </a:solidFill>
                <a:latin typeface="Aptos"/>
              </a:rPr>
              <a:t>Example</a:t>
            </a:r>
            <a:endParaRPr sz="1500" b="1" dirty="0">
              <a:solidFill>
                <a:srgbClr val="1A897D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C5EEA-5318-E40B-19BE-1B2516942D61}"/>
              </a:ext>
            </a:extLst>
          </p:cNvPr>
          <p:cNvSpPr txBox="1"/>
          <p:nvPr/>
        </p:nvSpPr>
        <p:spPr>
          <a:xfrm>
            <a:off x="4572000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400" dirty="0"/>
              <a:t>For Lake Powell, the documents include operating rules, 24-Month Studies, DROA materials, Post-2026 planning documents, technical reports, infrastructure information, and ecological operation materials. </a:t>
            </a:r>
          </a:p>
          <a:p>
            <a:endParaRPr lang="en-US" sz="1400" dirty="0"/>
          </a:p>
          <a:p>
            <a:r>
              <a:rPr lang="en-US" sz="1400" dirty="0"/>
              <a:t>The value of the method is that it can organize these sources into:</a:t>
            </a:r>
          </a:p>
          <a:p>
            <a:r>
              <a:rPr lang="en-US" sz="1400" dirty="0"/>
              <a:t>document-level operational facts;</a:t>
            </a:r>
          </a:p>
          <a:p>
            <a:r>
              <a:rPr lang="en-US" sz="1400" dirty="0"/>
              <a:t>consolidated topic-level knowledge points; cross-document synthesis claims;</a:t>
            </a:r>
          </a:p>
          <a:p>
            <a:r>
              <a:rPr lang="en-US" sz="1400" dirty="0"/>
              <a:t>evidence gaps and unresolved operational issues.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2A088-6559-3857-3A20-1055EDA75FD0}"/>
              </a:ext>
            </a:extLst>
          </p:cNvPr>
          <p:cNvSpPr/>
          <p:nvPr/>
        </p:nvSpPr>
        <p:spPr>
          <a:xfrm>
            <a:off x="8065008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E90C9-5D3C-709F-C977-369C75A36FF2}"/>
              </a:ext>
            </a:extLst>
          </p:cNvPr>
          <p:cNvSpPr/>
          <p:nvPr/>
        </p:nvSpPr>
        <p:spPr>
          <a:xfrm>
            <a:off x="8065008" y="1417320"/>
            <a:ext cx="73152" cy="429768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ABE811-9806-54CE-A295-AE4443091B40}"/>
              </a:ext>
            </a:extLst>
          </p:cNvPr>
          <p:cNvSpPr txBox="1"/>
          <p:nvPr/>
        </p:nvSpPr>
        <p:spPr>
          <a:xfrm>
            <a:off x="8266176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1500" b="1" dirty="0">
                <a:solidFill>
                  <a:srgbClr val="C57A24"/>
                </a:solidFill>
                <a:latin typeface="Aptos"/>
              </a:rPr>
              <a:t>Contribution</a:t>
            </a:r>
            <a:endParaRPr sz="1500" b="1" dirty="0">
              <a:solidFill>
                <a:srgbClr val="C57A24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5ABD1-C094-0BDA-3443-6ACFF9CC6323}"/>
              </a:ext>
            </a:extLst>
          </p:cNvPr>
          <p:cNvSpPr txBox="1"/>
          <p:nvPr/>
        </p:nvSpPr>
        <p:spPr>
          <a:xfrm>
            <a:off x="8266176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400" dirty="0"/>
              <a:t>The method is useful when the research goal is not only to retrieve documents, but to understand </a:t>
            </a:r>
            <a:r>
              <a:rPr lang="en-US" sz="1400" b="1" dirty="0"/>
              <a:t>how operational rules, forecasts, infrastructure constraints, drought response, governance, and uncertainty interact</a:t>
            </a:r>
            <a:r>
              <a:rPr lang="en-US" sz="1400" dirty="0"/>
              <a:t>.</a:t>
            </a:r>
          </a:p>
          <a:p>
            <a:endParaRPr lang="en-US" sz="1400" b="0" dirty="0">
              <a:solidFill>
                <a:srgbClr val="222A35"/>
              </a:solidFill>
              <a:latin typeface="Aptos"/>
            </a:endParaRPr>
          </a:p>
          <a:p>
            <a:r>
              <a:rPr lang="en-US" sz="1400" b="0" dirty="0">
                <a:solidFill>
                  <a:srgbClr val="222A35"/>
                </a:solidFill>
                <a:latin typeface="Aptos"/>
              </a:rPr>
              <a:t>Vector </a:t>
            </a:r>
            <a:r>
              <a:rPr lang="en-US" sz="1400" dirty="0">
                <a:solidFill>
                  <a:srgbClr val="222A35"/>
                </a:solidFill>
                <a:latin typeface="Aptos"/>
              </a:rPr>
              <a:t>Database is easy to retrieval and compare for further research use.</a:t>
            </a:r>
            <a:endParaRPr sz="1300" b="0" dirty="0">
              <a:solidFill>
                <a:srgbClr val="222A3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3484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A939-F0BD-02A5-D030-A7F2647D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1C332-C9CF-5F5A-9247-F7A383DEB4E0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500" b="1" dirty="0">
                <a:solidFill>
                  <a:srgbClr val="222A35"/>
                </a:solidFill>
                <a:latin typeface="Aptos"/>
              </a:rPr>
              <a:t>Why </a:t>
            </a:r>
            <a:r>
              <a:rPr sz="2500" b="1" dirty="0">
                <a:solidFill>
                  <a:srgbClr val="222A35"/>
                </a:solidFill>
                <a:latin typeface="Aptos"/>
              </a:rPr>
              <a:t>CKP </a:t>
            </a:r>
            <a:r>
              <a:rPr lang="en-US" sz="2500" b="1" dirty="0">
                <a:solidFill>
                  <a:srgbClr val="222A35"/>
                </a:solidFill>
                <a:latin typeface="Aptos"/>
              </a:rPr>
              <a:t>(Consolidated Knowledge Point) Matters?</a:t>
            </a:r>
            <a:endParaRPr sz="2500" b="1" dirty="0">
              <a:solidFill>
                <a:srgbClr val="222A35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291E9-E4E4-A326-0D16-8E59FD0A9506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C718E-5A3C-5126-C711-EE7ABCCE683C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2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FA5BC-F4FD-B2E1-B368-5CFF33CAA171}"/>
              </a:ext>
            </a:extLst>
          </p:cNvPr>
          <p:cNvSpPr txBox="1"/>
          <p:nvPr/>
        </p:nvSpPr>
        <p:spPr>
          <a:xfrm>
            <a:off x="685800" y="1875878"/>
            <a:ext cx="5586984" cy="45706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AutoNum type="arabicPeriod"/>
            </a:pPr>
            <a:r>
              <a:rPr sz="1600" b="1" dirty="0">
                <a:solidFill>
                  <a:srgbClr val="C57A24"/>
                </a:solidFill>
                <a:latin typeface="Aptos"/>
              </a:rPr>
              <a:t>CKP is </a:t>
            </a:r>
            <a:r>
              <a:rPr lang="en-US" sz="1600" b="1" dirty="0">
                <a:solidFill>
                  <a:srgbClr val="C57A24"/>
                </a:solidFill>
                <a:latin typeface="Aptos"/>
              </a:rPr>
              <a:t>part of synthesis: CKP transforms scattered source-level facts (in one KU topic) into organized operational context.</a:t>
            </a:r>
          </a:p>
          <a:p>
            <a:pPr marL="342900" indent="-342900">
              <a:buAutoNum type="arabicPeriod"/>
            </a:pPr>
            <a:endParaRPr lang="en-US" sz="1600" b="1" dirty="0">
              <a:solidFill>
                <a:srgbClr val="C57A24"/>
              </a:solidFill>
              <a:latin typeface="Aptos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solidFill>
                  <a:srgbClr val="C57A24"/>
                </a:solidFill>
                <a:latin typeface="Aptos"/>
              </a:rPr>
              <a:t>CKP prepare better food for second part of synthesis. If we let AI Agent reasoning too much in one step,  it will make mistakes.</a:t>
            </a:r>
          </a:p>
          <a:p>
            <a:pPr marL="342900" indent="-342900">
              <a:buAutoNum type="arabicPeriod"/>
            </a:pPr>
            <a:endParaRPr lang="en-US" sz="1600" b="1" dirty="0">
              <a:solidFill>
                <a:srgbClr val="C57A24"/>
              </a:solidFill>
              <a:latin typeface="Aptos"/>
            </a:endParaRPr>
          </a:p>
          <a:p>
            <a:r>
              <a:rPr lang="en-US" sz="1600" b="1" dirty="0">
                <a:latin typeface="Aptos"/>
              </a:rPr>
              <a:t>Example:</a:t>
            </a:r>
          </a:p>
          <a:p>
            <a:r>
              <a:rPr lang="en-US" sz="1600" dirty="0"/>
              <a:t>A simple extraction system might say: “These sources conflict.”</a:t>
            </a:r>
          </a:p>
          <a:p>
            <a:r>
              <a:rPr lang="en-US" sz="1600" dirty="0"/>
              <a:t>But in the revised method, these are interpreted more carefully:</a:t>
            </a:r>
          </a:p>
          <a:p>
            <a:r>
              <a:rPr lang="en-US" dirty="0"/>
              <a:t>8.23 </a:t>
            </a:r>
            <a:r>
              <a:rPr lang="en-US" dirty="0" err="1"/>
              <a:t>maf</a:t>
            </a:r>
            <a:r>
              <a:rPr lang="en-US" sz="1600" dirty="0"/>
              <a:t> can be a long-range objective release layer.</a:t>
            </a:r>
          </a:p>
          <a:p>
            <a:r>
              <a:rPr lang="en-US" dirty="0"/>
              <a:t>7.48 </a:t>
            </a:r>
            <a:r>
              <a:rPr lang="en-US" dirty="0" err="1"/>
              <a:t>maf</a:t>
            </a:r>
            <a:r>
              <a:rPr lang="en-US" sz="1600" dirty="0"/>
              <a:t> can be a projected WY2026 Mid-Elevation Release Tier value.</a:t>
            </a:r>
          </a:p>
          <a:p>
            <a:r>
              <a:rPr lang="en-US" dirty="0"/>
              <a:t>6.00 </a:t>
            </a:r>
            <a:r>
              <a:rPr lang="en-US" dirty="0" err="1"/>
              <a:t>maf</a:t>
            </a:r>
            <a:r>
              <a:rPr lang="en-US" sz="1600" dirty="0"/>
              <a:t> can be a later drought-response or adjusted release value under low-elevation conditions.</a:t>
            </a:r>
          </a:p>
          <a:p>
            <a:endParaRPr sz="1600" b="1" dirty="0">
              <a:solidFill>
                <a:srgbClr val="C57A24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DAB8F-7840-8C0C-D697-D257EF5707A7}"/>
              </a:ext>
            </a:extLst>
          </p:cNvPr>
          <p:cNvSpPr/>
          <p:nvPr/>
        </p:nvSpPr>
        <p:spPr>
          <a:xfrm>
            <a:off x="6400800" y="1828800"/>
            <a:ext cx="47548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C4B78-8BAB-8294-80D5-671080CC6472}"/>
              </a:ext>
            </a:extLst>
          </p:cNvPr>
          <p:cNvSpPr/>
          <p:nvPr/>
        </p:nvSpPr>
        <p:spPr>
          <a:xfrm>
            <a:off x="6400800" y="1828800"/>
            <a:ext cx="73152" cy="329184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BD5D2-51A0-E2EE-FD25-5804987FB6ED}"/>
              </a:ext>
            </a:extLst>
          </p:cNvPr>
          <p:cNvSpPr txBox="1"/>
          <p:nvPr/>
        </p:nvSpPr>
        <p:spPr>
          <a:xfrm>
            <a:off x="6601968" y="1956816"/>
            <a:ext cx="44439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Approved CKP dimensions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F8628-DB69-7B88-83B0-9F3AC3BF8045}"/>
              </a:ext>
            </a:extLst>
          </p:cNvPr>
          <p:cNvSpPr txBox="1"/>
          <p:nvPr/>
        </p:nvSpPr>
        <p:spPr>
          <a:xfrm>
            <a:off x="6601968" y="2331720"/>
            <a:ext cx="4443984" cy="2670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 dirty="0">
                <a:solidFill>
                  <a:srgbClr val="222A35"/>
                </a:solidFill>
                <a:latin typeface="Aptos"/>
              </a:rPr>
              <a:t>Operation Rules
Infrastructure
Real-Time / Emergency Operations
Coordination / Governance
Operational Data
Research / Modeling / Analysis
Evidence Gap / Uncertainty</a:t>
            </a:r>
          </a:p>
        </p:txBody>
      </p:sp>
    </p:spTree>
    <p:extLst>
      <p:ext uri="{BB962C8B-B14F-4D97-AF65-F5344CB8AC3E}">
        <p14:creationId xmlns:p14="http://schemas.microsoft.com/office/powerpoint/2010/main" val="270615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89D48-8BEC-B608-A185-372CDA95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E3446-83D5-F92B-A1B9-773A1896D9B7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500" b="1" dirty="0">
                <a:solidFill>
                  <a:srgbClr val="222A35"/>
                </a:solidFill>
                <a:latin typeface="Aptos"/>
              </a:rPr>
              <a:t>Better Prompt means better results</a:t>
            </a:r>
            <a:endParaRPr sz="2500" b="1" dirty="0">
              <a:solidFill>
                <a:srgbClr val="222A35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B0086-3B1B-8E22-A5C9-0DEB73F7C8CF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89499-36A2-31FA-967E-DB4F01685B0D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3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46CAE-C9F3-988C-300E-D71C7ABBE006}"/>
              </a:ext>
            </a:extLst>
          </p:cNvPr>
          <p:cNvSpPr txBox="1"/>
          <p:nvPr/>
        </p:nvSpPr>
        <p:spPr>
          <a:xfrm>
            <a:off x="685800" y="2756452"/>
            <a:ext cx="9263958" cy="125895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Reduced false source discrepancies</a:t>
            </a:r>
            <a:endParaRPr lang="en-US" sz="1600" b="1" dirty="0">
              <a:solidFill>
                <a:srgbClr val="C57A24"/>
              </a:solidFill>
              <a:latin typeface="Aptos"/>
            </a:endParaRPr>
          </a:p>
          <a:p>
            <a:pPr marL="342900" indent="-342900">
              <a:buAutoNum type="arabicPeriod"/>
            </a:pPr>
            <a:r>
              <a:rPr lang="en-US" dirty="0"/>
              <a:t>Improved classification of synthesis results</a:t>
            </a:r>
          </a:p>
          <a:p>
            <a:pPr marL="342900" indent="-342900">
              <a:buAutoNum type="arabicPeriod"/>
            </a:pPr>
            <a:endParaRPr lang="en-US" sz="1600" b="1" dirty="0">
              <a:solidFill>
                <a:srgbClr val="C57A24"/>
              </a:solidFill>
              <a:latin typeface="Aptos"/>
            </a:endParaRPr>
          </a:p>
          <a:p>
            <a:endParaRPr lang="en-US" sz="1600" dirty="0"/>
          </a:p>
          <a:p>
            <a:endParaRPr sz="1600" b="1" dirty="0">
              <a:solidFill>
                <a:srgbClr val="C57A24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77519-A9C4-FE2F-A841-1CAF1A900BFA}"/>
              </a:ext>
            </a:extLst>
          </p:cNvPr>
          <p:cNvSpPr txBox="1"/>
          <p:nvPr/>
        </p:nvSpPr>
        <p:spPr>
          <a:xfrm>
            <a:off x="502919" y="1464579"/>
            <a:ext cx="10575897" cy="82259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2400" b="1" dirty="0">
                <a:solidFill>
                  <a:srgbClr val="1A897D"/>
                </a:solidFill>
                <a:latin typeface="Aptos"/>
              </a:rPr>
              <a:t>Clearly define what is the definition of each topics we want to collect!</a:t>
            </a:r>
          </a:p>
          <a:p>
            <a:r>
              <a:rPr lang="en-US" sz="2400" b="1" dirty="0">
                <a:solidFill>
                  <a:srgbClr val="1A897D"/>
                </a:solidFill>
                <a:latin typeface="Aptos"/>
              </a:rPr>
              <a:t>If we find the results are not what we want, then change some prompts.</a:t>
            </a:r>
          </a:p>
          <a:p>
            <a:endParaRPr sz="1400" b="1" dirty="0">
              <a:solidFill>
                <a:srgbClr val="1A897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2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B4D33-1629-21D5-EA6A-010812AC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A17FB5-17AF-75CC-5028-054D9DD488E6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Debugging Example: False Discrepancy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E1F07-7A1C-6360-C2A5-E2E4CC51200B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E72C1-5A70-2341-F006-0A295246E1AE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4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08FA2A-CFC9-660B-9782-D2FD16F1539D}"/>
              </a:ext>
            </a:extLst>
          </p:cNvPr>
          <p:cNvSpPr/>
          <p:nvPr/>
        </p:nvSpPr>
        <p:spPr>
          <a:xfrm>
            <a:off x="594360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C6931-E4E7-25EC-3021-055B008499E8}"/>
              </a:ext>
            </a:extLst>
          </p:cNvPr>
          <p:cNvSpPr/>
          <p:nvPr/>
        </p:nvSpPr>
        <p:spPr>
          <a:xfrm>
            <a:off x="594360" y="1280160"/>
            <a:ext cx="73152" cy="4480560"/>
          </a:xfrm>
          <a:prstGeom prst="rect">
            <a:avLst/>
          </a:prstGeom>
          <a:solidFill>
            <a:srgbClr val="B04646"/>
          </a:solidFill>
          <a:ln>
            <a:solidFill>
              <a:srgbClr val="B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CF9AF-4972-BC2F-0B02-BB17CE95C0EB}"/>
              </a:ext>
            </a:extLst>
          </p:cNvPr>
          <p:cNvSpPr txBox="1"/>
          <p:nvPr/>
        </p:nvSpPr>
        <p:spPr>
          <a:xfrm>
            <a:off x="79552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04646"/>
                </a:solidFill>
                <a:latin typeface="Aptos"/>
              </a:rPr>
              <a:t>Observed 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A2125-0625-6DCF-3E18-EB4265D2857A}"/>
              </a:ext>
            </a:extLst>
          </p:cNvPr>
          <p:cNvSpPr txBox="1"/>
          <p:nvPr/>
        </p:nvSpPr>
        <p:spPr>
          <a:xfrm>
            <a:off x="79552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Different release values could be treated as source conflicts.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BD259B-0EC0-C8AE-EF60-E0EE441F545F}"/>
              </a:ext>
            </a:extLst>
          </p:cNvPr>
          <p:cNvSpPr/>
          <p:nvPr/>
        </p:nvSpPr>
        <p:spPr>
          <a:xfrm>
            <a:off x="4389120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42DD91-C23D-5D2B-83CD-DC386BC9B70E}"/>
              </a:ext>
            </a:extLst>
          </p:cNvPr>
          <p:cNvSpPr/>
          <p:nvPr/>
        </p:nvSpPr>
        <p:spPr>
          <a:xfrm>
            <a:off x="4389120" y="1280160"/>
            <a:ext cx="73152" cy="448056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63200-F64C-27BC-E60A-54817AE05BF1}"/>
              </a:ext>
            </a:extLst>
          </p:cNvPr>
          <p:cNvSpPr txBox="1"/>
          <p:nvPr/>
        </p:nvSpPr>
        <p:spPr>
          <a:xfrm>
            <a:off x="459028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C57A24"/>
                </a:solidFill>
                <a:latin typeface="Aptos"/>
              </a:rPr>
              <a:t>Diagnosis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98A623-07F9-A4B8-2D4A-5DC8CEAC0FF5}"/>
              </a:ext>
            </a:extLst>
          </p:cNvPr>
          <p:cNvSpPr txBox="1"/>
          <p:nvPr/>
        </p:nvSpPr>
        <p:spPr>
          <a:xfrm>
            <a:off x="459028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The system needed a layer to distinguish objective release, projected release, adjusted release, scenario value, and model logic.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900BE7-B755-B855-0E86-9798E4A31CF9}"/>
              </a:ext>
            </a:extLst>
          </p:cNvPr>
          <p:cNvSpPr/>
          <p:nvPr/>
        </p:nvSpPr>
        <p:spPr>
          <a:xfrm>
            <a:off x="8183879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53075-DC3F-3F18-8F60-E228632204AD}"/>
              </a:ext>
            </a:extLst>
          </p:cNvPr>
          <p:cNvSpPr/>
          <p:nvPr/>
        </p:nvSpPr>
        <p:spPr>
          <a:xfrm>
            <a:off x="8183879" y="1280160"/>
            <a:ext cx="73152" cy="448056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8C06B5-174D-F38C-8B27-F3C16C130A60}"/>
              </a:ext>
            </a:extLst>
          </p:cNvPr>
          <p:cNvSpPr txBox="1"/>
          <p:nvPr/>
        </p:nvSpPr>
        <p:spPr>
          <a:xfrm>
            <a:off x="838504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Revision and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810D2-A477-789D-6E6B-A497288EA205}"/>
              </a:ext>
            </a:extLst>
          </p:cNvPr>
          <p:cNvSpPr txBox="1"/>
          <p:nvPr/>
        </p:nvSpPr>
        <p:spPr>
          <a:xfrm>
            <a:off x="838504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Add CKP consolidation before synthesis. Release values are grouped under Operation Rules, so the final card treats them as status/context differences.</a:t>
            </a:r>
          </a:p>
        </p:txBody>
      </p:sp>
    </p:spTree>
    <p:extLst>
      <p:ext uri="{BB962C8B-B14F-4D97-AF65-F5344CB8AC3E}">
        <p14:creationId xmlns:p14="http://schemas.microsoft.com/office/powerpoint/2010/main" val="3669769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03B-2E72-4140-A5EE-5F3CBF72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755EB-FAB7-B1C6-B270-722C273D4AFD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Debugging Example: Synthesis Classification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381D6-4388-0811-685C-444710C019FD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B17E3-9BB5-2996-D9F2-696113A91AF7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5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85CDA-9009-7F0D-99BE-5D3828F6E571}"/>
              </a:ext>
            </a:extLst>
          </p:cNvPr>
          <p:cNvSpPr/>
          <p:nvPr/>
        </p:nvSpPr>
        <p:spPr>
          <a:xfrm>
            <a:off x="64008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F8A73-D263-6656-598A-397D8D37225B}"/>
              </a:ext>
            </a:extLst>
          </p:cNvPr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B04646"/>
          </a:solidFill>
          <a:ln>
            <a:solidFill>
              <a:srgbClr val="B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0E47E-6943-AD7E-2213-864907328A46}"/>
              </a:ext>
            </a:extLst>
          </p:cNvPr>
          <p:cNvSpPr txBox="1"/>
          <p:nvPr/>
        </p:nvSpPr>
        <p:spPr>
          <a:xfrm>
            <a:off x="841247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04646"/>
                </a:solidFill>
                <a:latin typeface="Aptos"/>
              </a:rPr>
              <a:t>Observed 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96AA3-B355-3FB9-9DF2-616532D634EC}"/>
              </a:ext>
            </a:extLst>
          </p:cNvPr>
          <p:cNvSpPr txBox="1"/>
          <p:nvPr/>
        </p:nvSpPr>
        <p:spPr>
          <a:xfrm>
            <a:off x="841247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Synthesis categories could be too broad or mixed.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150B82-43AE-8BB8-73B2-A49AF47DECCB}"/>
              </a:ext>
            </a:extLst>
          </p:cNvPr>
          <p:cNvSpPr/>
          <p:nvPr/>
        </p:nvSpPr>
        <p:spPr>
          <a:xfrm>
            <a:off x="434340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03F05-DE2E-B013-04FD-A073935859A1}"/>
              </a:ext>
            </a:extLst>
          </p:cNvPr>
          <p:cNvSpPr/>
          <p:nvPr/>
        </p:nvSpPr>
        <p:spPr>
          <a:xfrm>
            <a:off x="4343400" y="1280160"/>
            <a:ext cx="73152" cy="448056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499B7-CBFF-76B7-CD82-DD38C1D7777C}"/>
              </a:ext>
            </a:extLst>
          </p:cNvPr>
          <p:cNvSpPr txBox="1"/>
          <p:nvPr/>
        </p:nvSpPr>
        <p:spPr>
          <a:xfrm>
            <a:off x="4544568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A5FAA"/>
                </a:solidFill>
                <a:latin typeface="Aptos"/>
              </a:rPr>
              <a:t>Revision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5B530-BA29-9271-9C6D-D1D16A2F7662}"/>
              </a:ext>
            </a:extLst>
          </p:cNvPr>
          <p:cNvSpPr txBox="1"/>
          <p:nvPr/>
        </p:nvSpPr>
        <p:spPr>
          <a:xfrm>
            <a:off x="4544568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Redefine prompt-level taxonomy and add decision rules for each analysis type.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7BFCC-637A-8018-BCEB-F5E8BD612F35}"/>
              </a:ext>
            </a:extLst>
          </p:cNvPr>
          <p:cNvSpPr/>
          <p:nvPr/>
        </p:nvSpPr>
        <p:spPr>
          <a:xfrm>
            <a:off x="804672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2BCA0-1DF5-128E-11F0-528DBDDC7390}"/>
              </a:ext>
            </a:extLst>
          </p:cNvPr>
          <p:cNvSpPr/>
          <p:nvPr/>
        </p:nvSpPr>
        <p:spPr>
          <a:xfrm>
            <a:off x="8046720" y="1280160"/>
            <a:ext cx="73152" cy="448056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2EFFB-156F-4819-575F-3CC518B2FDED}"/>
              </a:ext>
            </a:extLst>
          </p:cNvPr>
          <p:cNvSpPr txBox="1"/>
          <p:nvPr/>
        </p:nvSpPr>
        <p:spPr>
          <a:xfrm>
            <a:off x="8247888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Improved outputs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AE06EB-3551-7137-B572-0806989F2092}"/>
              </a:ext>
            </a:extLst>
          </p:cNvPr>
          <p:cNvSpPr txBox="1"/>
          <p:nvPr/>
        </p:nvSpPr>
        <p:spPr>
          <a:xfrm>
            <a:off x="8247888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Release values: complementary/status metadata.
Storage vs delivery: operational tradeoff.
Uncertainty-to-trigger logic: evidence gap.
Post-2026 coordination: outstanding issue.</a:t>
            </a:r>
          </a:p>
        </p:txBody>
      </p:sp>
    </p:spTree>
    <p:extLst>
      <p:ext uri="{BB962C8B-B14F-4D97-AF65-F5344CB8AC3E}">
        <p14:creationId xmlns:p14="http://schemas.microsoft.com/office/powerpoint/2010/main" val="239459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A856-0699-8E38-7FB9-7F638E30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590A3A-0C41-52FF-2D5F-3AB226BB4726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Source Verification and Traceability 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3C81E-5491-2EAE-8935-FDD3D9205A8C}"/>
              </a:ext>
            </a:extLst>
          </p:cNvPr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5B482-4FDA-8F82-DB7D-7FD4D7F5AFE5}"/>
              </a:ext>
            </a:extLst>
          </p:cNvPr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b="0" dirty="0">
                <a:solidFill>
                  <a:srgbClr val="5C6675"/>
                </a:solidFill>
                <a:latin typeface="Aptos"/>
              </a:rPr>
              <a:t>6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B1A30-4762-C71A-A51B-C7FDB4D30150}"/>
              </a:ext>
            </a:extLst>
          </p:cNvPr>
          <p:cNvSpPr/>
          <p:nvPr/>
        </p:nvSpPr>
        <p:spPr>
          <a:xfrm>
            <a:off x="685800" y="1964055"/>
            <a:ext cx="338328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D2577-CAE0-08C0-CCD5-01818CBBE46E}"/>
              </a:ext>
            </a:extLst>
          </p:cNvPr>
          <p:cNvSpPr/>
          <p:nvPr/>
        </p:nvSpPr>
        <p:spPr>
          <a:xfrm>
            <a:off x="685800" y="1964055"/>
            <a:ext cx="73152" cy="297180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05A6E-D28C-D253-C407-4D7F93810EF5}"/>
              </a:ext>
            </a:extLst>
          </p:cNvPr>
          <p:cNvSpPr txBox="1"/>
          <p:nvPr/>
        </p:nvSpPr>
        <p:spPr>
          <a:xfrm>
            <a:off x="886968" y="2092071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A5FAA"/>
                </a:solidFill>
                <a:latin typeface="Aptos"/>
              </a:rPr>
              <a:t>Recorded fields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FB8624-2610-6D3E-31AA-DC792D72E092}"/>
              </a:ext>
            </a:extLst>
          </p:cNvPr>
          <p:cNvSpPr txBox="1"/>
          <p:nvPr/>
        </p:nvSpPr>
        <p:spPr>
          <a:xfrm>
            <a:off x="886968" y="2466975"/>
            <a:ext cx="3072384" cy="2350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based_on_ku_ids
evidence_depth
source_locator_summary
source_verification_note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9700C-346E-3433-1217-46946E53FDBE}"/>
              </a:ext>
            </a:extLst>
          </p:cNvPr>
          <p:cNvSpPr/>
          <p:nvPr/>
        </p:nvSpPr>
        <p:spPr>
          <a:xfrm>
            <a:off x="4434840" y="1964055"/>
            <a:ext cx="338328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38056E-7EA1-6219-5D75-FDE7593E3237}"/>
              </a:ext>
            </a:extLst>
          </p:cNvPr>
          <p:cNvSpPr/>
          <p:nvPr/>
        </p:nvSpPr>
        <p:spPr>
          <a:xfrm>
            <a:off x="4434840" y="1964055"/>
            <a:ext cx="73152" cy="297180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8736C-41AC-C779-B0C0-7CDB51B31715}"/>
              </a:ext>
            </a:extLst>
          </p:cNvPr>
          <p:cNvSpPr txBox="1"/>
          <p:nvPr/>
        </p:nvSpPr>
        <p:spPr>
          <a:xfrm>
            <a:off x="4636007" y="2092071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What code checks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172DB4-CDB0-09E5-7464-18C76037E4E5}"/>
              </a:ext>
            </a:extLst>
          </p:cNvPr>
          <p:cNvSpPr txBox="1"/>
          <p:nvPr/>
        </p:nvSpPr>
        <p:spPr>
          <a:xfrm>
            <a:off x="4636007" y="2466975"/>
            <a:ext cx="3072384" cy="2350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Required fields, valid analysis type, cited KU IDs exist, source-checked cards include locator summary and verification note.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1A96DF-EC7D-707F-D99E-0D7D93501B92}"/>
              </a:ext>
            </a:extLst>
          </p:cNvPr>
          <p:cNvSpPr/>
          <p:nvPr/>
        </p:nvSpPr>
        <p:spPr>
          <a:xfrm>
            <a:off x="8183879" y="1964055"/>
            <a:ext cx="338328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8D4A82-B9A0-F1EF-C8EE-5EF84D6D05AE}"/>
              </a:ext>
            </a:extLst>
          </p:cNvPr>
          <p:cNvSpPr/>
          <p:nvPr/>
        </p:nvSpPr>
        <p:spPr>
          <a:xfrm>
            <a:off x="8183879" y="1964055"/>
            <a:ext cx="73152" cy="297180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D59819-846D-ECD4-D4BA-B3B2F0F7DBA1}"/>
              </a:ext>
            </a:extLst>
          </p:cNvPr>
          <p:cNvSpPr txBox="1"/>
          <p:nvPr/>
        </p:nvSpPr>
        <p:spPr>
          <a:xfrm>
            <a:off x="8385048" y="2092071"/>
            <a:ext cx="3072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C57A24"/>
                </a:solidFill>
                <a:latin typeface="Aptos"/>
              </a:rPr>
              <a:t>Important nuance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784E06-F2ED-02BB-15C8-1B85BD66D4F9}"/>
              </a:ext>
            </a:extLst>
          </p:cNvPr>
          <p:cNvSpPr txBox="1"/>
          <p:nvPr/>
        </p:nvSpPr>
        <p:spPr>
          <a:xfrm>
            <a:off x="8385048" y="2466975"/>
            <a:ext cx="3072384" cy="2350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222A35"/>
                </a:solidFill>
                <a:latin typeface="Aptos"/>
              </a:rPr>
              <a:t>The script validates traceability structure. Source rereading is enforced by the workflow/prompt and recorded in verification metadata.</a:t>
            </a:r>
          </a:p>
        </p:txBody>
      </p:sp>
    </p:spTree>
    <p:extLst>
      <p:ext uri="{BB962C8B-B14F-4D97-AF65-F5344CB8AC3E}">
        <p14:creationId xmlns:p14="http://schemas.microsoft.com/office/powerpoint/2010/main" val="1376534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 dirty="0">
                <a:solidFill>
                  <a:srgbClr val="222A35"/>
                </a:solidFill>
                <a:latin typeface="Aptos"/>
              </a:rPr>
              <a:t>Method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7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 dirty="0">
                <a:solidFill>
                  <a:srgbClr val="2A5FAA"/>
                </a:solidFill>
                <a:latin typeface="Aptos"/>
              </a:rPr>
              <a:t>1: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22A35"/>
                </a:solidFill>
                <a:latin typeface="Aptos"/>
              </a:rPr>
              <a:t>Five-stage process that turns reservoir documents into source-grounded KUs, CKPs, synthesis cards, and report/retrieval outputs.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73152" cy="429768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 dirty="0">
                <a:solidFill>
                  <a:srgbClr val="1A897D"/>
                </a:solidFill>
                <a:latin typeface="Aptos"/>
              </a:rPr>
              <a:t>2: Agent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22A35"/>
                </a:solidFill>
                <a:latin typeface="Aptos"/>
              </a:rPr>
              <a:t>Project docs, skills, templates, scripts, run folders, and human gates constrain the AI agent so the workflow is repeatable.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347472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429768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6" y="1545336"/>
            <a:ext cx="316382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 dirty="0">
                <a:solidFill>
                  <a:srgbClr val="C57A24"/>
                </a:solidFill>
                <a:latin typeface="Aptos"/>
              </a:rPr>
              <a:t>3: </a:t>
            </a:r>
            <a:r>
              <a:rPr lang="en-US" sz="1500" b="1" dirty="0">
                <a:solidFill>
                  <a:srgbClr val="C57A24"/>
                </a:solidFill>
                <a:latin typeface="Aptos"/>
              </a:rPr>
              <a:t>Refinement</a:t>
            </a:r>
            <a:endParaRPr sz="1500" b="1" dirty="0">
              <a:solidFill>
                <a:srgbClr val="C57A2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66176" y="1920240"/>
            <a:ext cx="3163824" cy="3675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22A35"/>
                </a:solidFill>
                <a:latin typeface="Aptos"/>
              </a:rPr>
              <a:t>Review outputs, identify failure modes, revise prompts/schemas/workflow rules, rerun affected stages, and compare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Layer 1: Five-Step Knowledge-Base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8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509048"/>
              </p:ext>
            </p:extLst>
          </p:nvPr>
        </p:nvGraphicFramePr>
        <p:xfrm>
          <a:off x="502920" y="1325880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Step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Input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9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Output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1. Source acquisition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Preserve and screen operation-relevant sources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URLs, PDFs, web pages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Inventory, raw files, extracted text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2. KU extraction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Extract source-grounded operational facts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Source chunks/text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Operational KUs with locators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3. </a:t>
                      </a:r>
                      <a:r>
                        <a:rPr lang="en-US" sz="1400" dirty="0"/>
                        <a:t>Synthesis</a:t>
                      </a: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Organize KUs into operational topics</a:t>
                      </a:r>
                      <a:r>
                        <a:rPr lang="en-US" sz="1400" dirty="0"/>
                        <a:t>; Identify cross-KU relationships</a:t>
                      </a:r>
                    </a:p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Operational KUs with locators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Consolidated Knowledge Points</a:t>
                      </a:r>
                      <a:r>
                        <a:rPr lang="en-US" sz="1400" dirty="0"/>
                        <a:t> (CKP) and Synthesis cards</a:t>
                      </a:r>
                    </a:p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4. </a:t>
                      </a:r>
                      <a:r>
                        <a:rPr lang="en-US" sz="1400" dirty="0"/>
                        <a:t>embedding</a:t>
                      </a: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Create vector database for further research purpose</a:t>
                      </a: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CKPs, KUs, locators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lang="en-US" sz="1400" dirty="0"/>
                        <a:t>Vector database</a:t>
                      </a:r>
                      <a:endParaRPr sz="1400"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5. Report / retrieval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Make outputs usable and reviewable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/>
                        <a:t>KUs + synthesis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400" dirty="0"/>
                        <a:t>Reports, retrieval records, claim maps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4559" y="2473409"/>
            <a:ext cx="1938528" cy="6400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79422" y="2647056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Source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7095" y="2674577"/>
            <a:ext cx="201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783127" y="2473409"/>
            <a:ext cx="1938528" cy="64008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37991" y="2647056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5663" y="2674577"/>
            <a:ext cx="201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1695" y="2473409"/>
            <a:ext cx="1938528" cy="64008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96559" y="2647056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CKP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7902318" y="3616138"/>
            <a:ext cx="201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 dirty="0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0839" y="4129017"/>
            <a:ext cx="1938528" cy="64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5703" y="4302664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lang="en-US" sz="900" dirty="0">
                <a:solidFill>
                  <a:srgbClr val="5C6675"/>
                </a:solidFill>
                <a:latin typeface="Aptos"/>
              </a:rPr>
              <a:t>9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43847E-2B04-CE03-A103-37BF4DC373D5}"/>
              </a:ext>
            </a:extLst>
          </p:cNvPr>
          <p:cNvSpPr/>
          <p:nvPr/>
        </p:nvSpPr>
        <p:spPr>
          <a:xfrm>
            <a:off x="4783127" y="4134871"/>
            <a:ext cx="1938528" cy="640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D57A66-1040-DBCD-2C1B-5A3B6C6AD0FD}"/>
              </a:ext>
            </a:extLst>
          </p:cNvPr>
          <p:cNvSpPr txBox="1"/>
          <p:nvPr/>
        </p:nvSpPr>
        <p:spPr>
          <a:xfrm>
            <a:off x="4837991" y="4308518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Vector DB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A8FA01-D5A7-8C25-8DAA-D8C4F1C3DEE8}"/>
              </a:ext>
            </a:extLst>
          </p:cNvPr>
          <p:cNvSpPr/>
          <p:nvPr/>
        </p:nvSpPr>
        <p:spPr>
          <a:xfrm>
            <a:off x="2524559" y="4134871"/>
            <a:ext cx="1938528" cy="6400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8105A0-41CC-A85E-461D-B7C3EA49D22B}"/>
              </a:ext>
            </a:extLst>
          </p:cNvPr>
          <p:cNvSpPr txBox="1"/>
          <p:nvPr/>
        </p:nvSpPr>
        <p:spPr>
          <a:xfrm>
            <a:off x="2579423" y="4308518"/>
            <a:ext cx="1828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/>
              </a:rPr>
              <a:t>Report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7D1071-4F59-E62E-858C-AEF65C966D14}"/>
              </a:ext>
            </a:extLst>
          </p:cNvPr>
          <p:cNvSpPr txBox="1"/>
          <p:nvPr/>
        </p:nvSpPr>
        <p:spPr>
          <a:xfrm rot="10800000">
            <a:off x="6792815" y="4388896"/>
            <a:ext cx="201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6A6CBA-9857-6D3C-45F3-7F965E4870F4}"/>
              </a:ext>
            </a:extLst>
          </p:cNvPr>
          <p:cNvSpPr txBox="1"/>
          <p:nvPr/>
        </p:nvSpPr>
        <p:spPr>
          <a:xfrm rot="10800000">
            <a:off x="4527095" y="4388896"/>
            <a:ext cx="2011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Layer 2: AI 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900" b="0" dirty="0">
                <a:solidFill>
                  <a:srgbClr val="5C6675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5C6675"/>
                </a:solidFill>
                <a:latin typeface="Aptos"/>
              </a:rPr>
              <a:t>0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15605"/>
              </p:ext>
            </p:extLst>
          </p:nvPr>
        </p:nvGraphicFramePr>
        <p:xfrm>
          <a:off x="685800" y="1234440"/>
          <a:ext cx="108356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051">
                <a:tc>
                  <a:txBody>
                    <a:bodyPr/>
                    <a:lstStyle/>
                    <a:p>
                      <a:pPr>
                        <a:defRPr sz="1090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Component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90" b="1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Role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Project docs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Define principles, stage boundaries, required artifacts, and human gates.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Skills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Stage-specific instructions for source acquisition, KU extraction, synthesis, retrieval, and reporting.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Templates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Standardize manifests, validation summaries, and report structures.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Scripts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Run deterministic checks for schemas, references, source inventory, and synthesis structure.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051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Run folders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sz="1600"/>
                        <a:t>Version outputs and prevent overwriting previous runs.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054"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Agent.md</a:t>
                      </a:r>
                      <a:endParaRPr sz="1600" dirty="0">
                        <a:solidFill>
                          <a:srgbClr val="C00000"/>
                        </a:solidFill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The workflow of agent, tasks, requirements, and how to use above files</a:t>
                      </a:r>
                      <a:endParaRPr sz="1600" dirty="0">
                        <a:solidFill>
                          <a:srgbClr val="C00000"/>
                        </a:solidFill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 dirty="0">
                <a:solidFill>
                  <a:srgbClr val="222A35"/>
                </a:solidFill>
                <a:latin typeface="Aptos"/>
              </a:rPr>
              <a:t>Layer 3: Refinement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900" b="0" dirty="0">
                <a:solidFill>
                  <a:srgbClr val="5C6675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5C6675"/>
                </a:solidFill>
                <a:latin typeface="Aptos"/>
              </a:rPr>
              <a:t>1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1938528" cy="6400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3" y="1627632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664208"/>
            <a:ext cx="201168" cy="182880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2000"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463040"/>
            <a:ext cx="1938528" cy="64008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627632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1664208"/>
            <a:ext cx="201168" cy="182880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2000"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1463040"/>
            <a:ext cx="1938528" cy="64008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627632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1664208"/>
            <a:ext cx="201168" cy="182880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2000"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1463040"/>
            <a:ext cx="1938528" cy="64008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1627632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Revise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664208"/>
            <a:ext cx="201168" cy="182880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2000" b="1">
                <a:solidFill>
                  <a:srgbClr val="5C6675"/>
                </a:solidFill>
                <a:latin typeface="Aptos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11512" y="1463040"/>
            <a:ext cx="1938528" cy="64008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66376" y="1627632"/>
            <a:ext cx="18288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43200"/>
            <a:ext cx="5029200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40"/>
              </a:spcAft>
              <a:defRPr sz="1500">
                <a:solidFill>
                  <a:srgbClr val="222A35"/>
                </a:solidFill>
                <a:latin typeface="Aptos"/>
              </a:defRPr>
            </a:pPr>
            <a:r>
              <a:t>Review generated KUs, CKPs, and synthesis cards.</a:t>
            </a:r>
          </a:p>
          <a:p>
            <a:pPr>
              <a:spcAft>
                <a:spcPts val="540"/>
              </a:spcAft>
              <a:defRPr sz="1500">
                <a:solidFill>
                  <a:srgbClr val="222A35"/>
                </a:solidFill>
                <a:latin typeface="Aptos"/>
              </a:defRPr>
            </a:pPr>
            <a:r>
              <a:t>Identify failure modes from actual outputs.</a:t>
            </a:r>
          </a:p>
          <a:p>
            <a:pPr>
              <a:spcAft>
                <a:spcPts val="540"/>
              </a:spcAft>
              <a:defRPr sz="1500">
                <a:solidFill>
                  <a:srgbClr val="222A35"/>
                </a:solidFill>
                <a:latin typeface="Aptos"/>
              </a:defRPr>
            </a:pPr>
            <a:r>
              <a:t>Revise prompt taxonomy, schemas, or workflow rules.</a:t>
            </a:r>
          </a:p>
          <a:p>
            <a:pPr>
              <a:spcAft>
                <a:spcPts val="540"/>
              </a:spcAft>
              <a:defRPr sz="1500">
                <a:solidFill>
                  <a:srgbClr val="222A35"/>
                </a:solidFill>
                <a:latin typeface="Aptos"/>
              </a:defRPr>
            </a:pPr>
            <a:r>
              <a:t>Rerun affected stages first, then full workflow if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70916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73152" cy="237744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871216"/>
            <a:ext cx="4398264" cy="31089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>
                <a:solidFill>
                  <a:srgbClr val="C57A24"/>
                </a:solidFill>
                <a:latin typeface="Aptos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246120"/>
            <a:ext cx="4398264" cy="1755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222A35"/>
                </a:solidFill>
                <a:latin typeface="Aptos"/>
              </a:rPr>
              <a:t>Make the system improve through output diagnosis and rerun, instead of relying on a single prompt attempt.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Debugging Example: False Discrepancy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900" b="0" dirty="0">
                <a:solidFill>
                  <a:srgbClr val="5C6675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5C6675"/>
                </a:solidFill>
                <a:latin typeface="Aptos"/>
              </a:rPr>
              <a:t>2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4480560"/>
          </a:xfrm>
          <a:prstGeom prst="rect">
            <a:avLst/>
          </a:prstGeom>
          <a:solidFill>
            <a:srgbClr val="B04646"/>
          </a:solidFill>
          <a:ln>
            <a:solidFill>
              <a:srgbClr val="B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04646"/>
                </a:solidFill>
                <a:latin typeface="Aptos"/>
              </a:rPr>
              <a:t>Observed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Different release values could be treated as source conflicts.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4480560"/>
          </a:xfrm>
          <a:prstGeom prst="rect">
            <a:avLst/>
          </a:prstGeom>
          <a:solidFill>
            <a:srgbClr val="C57A24"/>
          </a:solidFill>
          <a:ln>
            <a:solidFill>
              <a:srgbClr val="C5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C57A24"/>
                </a:solidFill>
                <a:latin typeface="Aptos"/>
              </a:rPr>
              <a:t>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The system needed a layer to distinguish objective release, projected release, adjusted release, scenario value, and model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34290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73152" cy="448056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408176"/>
            <a:ext cx="31181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Revision and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783080"/>
            <a:ext cx="311810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Add CKP consolidation before synthesis. Release values are grouped under Operation Rules, so the final card treats them as status/context differences.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222A35"/>
                </a:solidFill>
                <a:latin typeface="Aptos"/>
              </a:rPr>
              <a:t>Debugging Example: Synthesis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201400" cy="18288"/>
          </a:xfrm>
          <a:prstGeom prst="rect">
            <a:avLst/>
          </a:prstGeom>
          <a:solidFill>
            <a:srgbClr val="D6DCE5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8580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r"/>
            <a:r>
              <a:rPr sz="900" b="0" dirty="0">
                <a:solidFill>
                  <a:srgbClr val="5C6675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5C6675"/>
                </a:solidFill>
                <a:latin typeface="Aptos"/>
              </a:rPr>
              <a:t>3</a:t>
            </a:r>
            <a:endParaRPr sz="900" b="0" dirty="0">
              <a:solidFill>
                <a:srgbClr val="5C66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B04646"/>
          </a:solidFill>
          <a:ln>
            <a:solidFill>
              <a:srgbClr val="B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04646"/>
                </a:solidFill>
                <a:latin typeface="Aptos"/>
              </a:rPr>
              <a:t>Observed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Synthesis categories could be too broad or mixed.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480560"/>
          </a:xfrm>
          <a:prstGeom prst="rect">
            <a:avLst/>
          </a:prstGeom>
          <a:solidFill>
            <a:srgbClr val="2A5FAA"/>
          </a:solidFill>
          <a:ln>
            <a:solidFill>
              <a:srgbClr val="2A5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A5FAA"/>
                </a:solidFill>
                <a:latin typeface="Aptos"/>
              </a:rPr>
              <a:t>Revision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222A35"/>
                </a:solidFill>
                <a:latin typeface="Aptos"/>
              </a:rPr>
              <a:t>Redefine prompt-level taxonomy and add decision rules for each analysis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480560"/>
          </a:xfrm>
          <a:prstGeom prst="rect">
            <a:avLst/>
          </a:prstGeom>
          <a:solidFill>
            <a:srgbClr val="1A897D"/>
          </a:solidFill>
          <a:ln>
            <a:solidFill>
              <a:srgbClr val="1A8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08176"/>
            <a:ext cx="31638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A897D"/>
                </a:solidFill>
                <a:latin typeface="Aptos"/>
              </a:rPr>
              <a:t>Improved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163824" cy="3858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222A35"/>
                </a:solidFill>
                <a:latin typeface="Aptos"/>
              </a:rPr>
              <a:t>Release values: complementary/status metadata.
Storage vs delivery: operational tradeoff.
Uncertainty-to-trigger logic: evidence gap.
Post-2026 coordination: outstanding issue.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1444</Words>
  <Application>Microsoft Office PowerPoint</Application>
  <PresentationFormat>Widescreen</PresentationFormat>
  <Paragraphs>168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Zheng, Zihan</cp:lastModifiedBy>
  <cp:revision>2</cp:revision>
  <dcterms:created xsi:type="dcterms:W3CDTF">2013-01-27T09:14:16Z</dcterms:created>
  <dcterms:modified xsi:type="dcterms:W3CDTF">2026-06-28T21:57:54Z</dcterms:modified>
  <cp:category/>
</cp:coreProperties>
</file>