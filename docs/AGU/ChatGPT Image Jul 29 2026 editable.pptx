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5FC"/>
    <a:srgbClr val="244696"/>
    <a:srgbClr val="EEF9E9"/>
    <a:srgbClr val="2F732B"/>
    <a:srgbClr val="FFFFFF"/>
    <a:srgbClr val="684884"/>
    <a:srgbClr val="F4E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83" autoAdjust="0"/>
  </p:normalViewPr>
  <p:slideViewPr>
    <p:cSldViewPr snapToGrid="0">
      <p:cViewPr>
        <p:scale>
          <a:sx n="130" d="100"/>
          <a:sy n="130" d="100"/>
        </p:scale>
        <p:origin x="-241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svg"/><Relationship Id="rId21" Type="http://schemas.openxmlformats.org/officeDocument/2006/relationships/image" Target="../media/image34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svg"/><Relationship Id="rId16" Type="http://schemas.openxmlformats.org/officeDocument/2006/relationships/image" Target="../media/image29.png"/><Relationship Id="rId20" Type="http://schemas.openxmlformats.org/officeDocument/2006/relationships/image" Target="../media/image3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19" Type="http://schemas.openxmlformats.org/officeDocument/2006/relationships/image" Target="../media/image32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: Rounded Corners 335">
            <a:extLst>
              <a:ext uri="{FF2B5EF4-FFF2-40B4-BE49-F238E27FC236}">
                <a16:creationId xmlns:a16="http://schemas.microsoft.com/office/drawing/2014/main" id="{2CF9F802-6CF9-14FE-95B8-40E64FD6E02E}"/>
              </a:ext>
            </a:extLst>
          </p:cNvPr>
          <p:cNvSpPr/>
          <p:nvPr/>
        </p:nvSpPr>
        <p:spPr>
          <a:xfrm>
            <a:off x="9114506" y="2856950"/>
            <a:ext cx="2456883" cy="1387842"/>
          </a:xfrm>
          <a:prstGeom prst="roundRect">
            <a:avLst>
              <a:gd name="adj" fmla="val 12720"/>
            </a:avLst>
          </a:prstGeom>
          <a:solidFill>
            <a:srgbClr val="F3F5FC"/>
          </a:solidFill>
          <a:ln>
            <a:solidFill>
              <a:srgbClr val="244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Rectangle: Rounded Corners 333">
            <a:extLst>
              <a:ext uri="{FF2B5EF4-FFF2-40B4-BE49-F238E27FC236}">
                <a16:creationId xmlns:a16="http://schemas.microsoft.com/office/drawing/2014/main" id="{AF073968-7E81-12C5-EE2A-D7283698FC99}"/>
              </a:ext>
            </a:extLst>
          </p:cNvPr>
          <p:cNvSpPr/>
          <p:nvPr/>
        </p:nvSpPr>
        <p:spPr>
          <a:xfrm>
            <a:off x="9079264" y="675700"/>
            <a:ext cx="2456883" cy="1721342"/>
          </a:xfrm>
          <a:prstGeom prst="roundRect">
            <a:avLst>
              <a:gd name="adj" fmla="val 12720"/>
            </a:avLst>
          </a:prstGeom>
          <a:solidFill>
            <a:srgbClr val="EEF9E9"/>
          </a:solidFill>
          <a:ln>
            <a:solidFill>
              <a:srgbClr val="2F73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530767CE-85EB-31D8-EDA9-58A20E771635}"/>
              </a:ext>
            </a:extLst>
          </p:cNvPr>
          <p:cNvSpPr/>
          <p:nvPr/>
        </p:nvSpPr>
        <p:spPr>
          <a:xfrm>
            <a:off x="11855891" y="652776"/>
            <a:ext cx="2456883" cy="3612043"/>
          </a:xfrm>
          <a:prstGeom prst="roundRect">
            <a:avLst>
              <a:gd name="adj" fmla="val 10319"/>
            </a:avLst>
          </a:prstGeom>
          <a:solidFill>
            <a:srgbClr val="F3F5FC"/>
          </a:solidFill>
          <a:ln>
            <a:solidFill>
              <a:srgbClr val="244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ectangle: Rounded Corners 331">
            <a:extLst>
              <a:ext uri="{FF2B5EF4-FFF2-40B4-BE49-F238E27FC236}">
                <a16:creationId xmlns:a16="http://schemas.microsoft.com/office/drawing/2014/main" id="{075A3DD1-C30F-4AA0-2B2C-D301F45B9FA3}"/>
              </a:ext>
            </a:extLst>
          </p:cNvPr>
          <p:cNvSpPr/>
          <p:nvPr/>
        </p:nvSpPr>
        <p:spPr>
          <a:xfrm>
            <a:off x="6274377" y="662496"/>
            <a:ext cx="2456883" cy="3612043"/>
          </a:xfrm>
          <a:prstGeom prst="roundRect">
            <a:avLst>
              <a:gd name="adj" fmla="val 12720"/>
            </a:avLst>
          </a:prstGeom>
          <a:solidFill>
            <a:srgbClr val="EEF9E9"/>
          </a:solidFill>
          <a:ln>
            <a:solidFill>
              <a:srgbClr val="2F73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DACCDB-D4C2-4797-AE4E-3896456914F9}"/>
              </a:ext>
            </a:extLst>
          </p:cNvPr>
          <p:cNvSpPr>
            <a:spLocks noGrp="1"/>
          </p:cNvSpPr>
          <p:nvPr/>
        </p:nvSpPr>
        <p:spPr>
          <a:xfrm>
            <a:off x="5991225" y="114300"/>
            <a:ext cx="8524876" cy="4352925"/>
          </a:xfrm>
          <a:prstGeom prst="roundRect">
            <a:avLst>
              <a:gd name="adj" fmla="val 1587"/>
            </a:avLst>
          </a:prstGeom>
          <a:noFill/>
          <a:ln w="317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C8FE26-E344-4376-B050-69617F329BC2}"/>
              </a:ext>
            </a:extLst>
          </p:cNvPr>
          <p:cNvSpPr>
            <a:spLocks noGrp="1"/>
          </p:cNvSpPr>
          <p:nvPr/>
        </p:nvSpPr>
        <p:spPr>
          <a:xfrm>
            <a:off x="8081318" y="4724400"/>
            <a:ext cx="6434781" cy="435292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317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5147C1-8942-42F5-92D7-313959AD3F01}"/>
              </a:ext>
            </a:extLst>
          </p:cNvPr>
          <p:cNvSpPr>
            <a:spLocks noGrp="1"/>
          </p:cNvSpPr>
          <p:nvPr/>
        </p:nvSpPr>
        <p:spPr>
          <a:xfrm>
            <a:off x="114299" y="4734448"/>
            <a:ext cx="7755444" cy="4352923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317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EA65EFE4-9A5B-4260-A263-79273081D7CE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5705475" cy="435292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317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249E8-38DB-40ED-8ABD-1B8E68CE91AA}"/>
              </a:ext>
            </a:extLst>
          </p:cNvPr>
          <p:cNvSpPr>
            <a:spLocks noGrp="1"/>
          </p:cNvSpPr>
          <p:nvPr/>
        </p:nvSpPr>
        <p:spPr>
          <a:xfrm>
            <a:off x="238125" y="228600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835"/>
          </a:bodyPr>
          <a:lstStyle/>
          <a:p>
            <a:pPr>
              <a:lnSpc>
                <a:spcPct val="108000"/>
              </a:lnSpc>
              <a:defRPr sz="1575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A. </a:t>
            </a:r>
            <a:r>
              <a:rPr lang="en-US" sz="1400" b="1" dirty="0"/>
              <a:t>Background: From Information to Scientific Discovery</a:t>
            </a:r>
            <a:endParaRPr sz="1400" b="1" i="0" dirty="0">
              <a:solidFill>
                <a:srgbClr val="0508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6C655707-9C82-4355-8ED8-EB24CD7FB3BA}"/>
              </a:ext>
            </a:extLst>
          </p:cNvPr>
          <p:cNvSpPr>
            <a:spLocks noGrp="1"/>
          </p:cNvSpPr>
          <p:nvPr/>
        </p:nvSpPr>
        <p:spPr>
          <a:xfrm>
            <a:off x="678848" y="647139"/>
            <a:ext cx="2657474" cy="1047750"/>
          </a:xfrm>
          <a:prstGeom prst="trapezoid">
            <a:avLst/>
          </a:prstGeom>
          <a:solidFill>
            <a:srgbClr val="F4EFF9"/>
          </a:solidFill>
          <a:ln w="12700">
            <a:solidFill>
              <a:srgbClr val="68488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55A06ED1-ADDD-4D9A-A068-81DEDB323F12}"/>
              </a:ext>
            </a:extLst>
          </p:cNvPr>
          <p:cNvSpPr>
            <a:spLocks noGrp="1"/>
          </p:cNvSpPr>
          <p:nvPr/>
        </p:nvSpPr>
        <p:spPr>
          <a:xfrm>
            <a:off x="549375" y="1933550"/>
            <a:ext cx="2985514" cy="1066800"/>
          </a:xfrm>
          <a:prstGeom prst="trapezoid">
            <a:avLst/>
          </a:prstGeom>
          <a:solidFill>
            <a:srgbClr val="F3F5FC"/>
          </a:solidFill>
          <a:ln w="12700">
            <a:solidFill>
              <a:srgbClr val="2446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AF6CBB69-FD76-412E-B1CD-8C3A80004BE1}"/>
              </a:ext>
            </a:extLst>
          </p:cNvPr>
          <p:cNvSpPr>
            <a:spLocks noGrp="1"/>
          </p:cNvSpPr>
          <p:nvPr/>
        </p:nvSpPr>
        <p:spPr>
          <a:xfrm>
            <a:off x="421113" y="3253288"/>
            <a:ext cx="3241472" cy="1028700"/>
          </a:xfrm>
          <a:prstGeom prst="trapezoid">
            <a:avLst/>
          </a:prstGeom>
          <a:solidFill>
            <a:srgbClr val="EEF9E9"/>
          </a:solidFill>
          <a:ln w="12700">
            <a:solidFill>
              <a:srgbClr val="2F73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3213CC-FAAE-4C2D-848F-27C453AEE51E}"/>
              </a:ext>
            </a:extLst>
          </p:cNvPr>
          <p:cNvSpPr>
            <a:spLocks noGrp="1"/>
          </p:cNvSpPr>
          <p:nvPr/>
        </p:nvSpPr>
        <p:spPr>
          <a:xfrm>
            <a:off x="1687938" y="3391073"/>
            <a:ext cx="1846952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lnSpcReduction="10000"/>
          </a:bodyPr>
          <a:lstStyle/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2F732B"/>
                </a:solidFill>
                <a:latin typeface="Arial"/>
                <a:ea typeface="Arial"/>
                <a:cs typeface="Arial"/>
              </a:rPr>
              <a:t>Level 1</a:t>
            </a:r>
            <a:endParaRPr lang="en-US" sz="1050" b="1" i="0" dirty="0">
              <a:solidFill>
                <a:srgbClr val="2F732B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F732B"/>
                </a:solidFill>
                <a:latin typeface="Arial"/>
                <a:ea typeface="Arial"/>
                <a:cs typeface="Arial"/>
              </a:rPr>
              <a:t>Information Processing</a:t>
            </a:r>
          </a:p>
          <a:p>
            <a:pPr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900" i="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Read, extract, </a:t>
            </a:r>
            <a:r>
              <a:rPr lang="en-US" sz="90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and organize from individual documents and build searchable indexes </a:t>
            </a:r>
            <a:endParaRPr sz="900" i="0" dirty="0">
              <a:solidFill>
                <a:srgbClr val="05080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91D3E7-ACBC-4FA0-8C19-EB7B1931545F}"/>
              </a:ext>
            </a:extLst>
          </p:cNvPr>
          <p:cNvSpPr>
            <a:spLocks noGrp="1"/>
          </p:cNvSpPr>
          <p:nvPr/>
        </p:nvSpPr>
        <p:spPr>
          <a:xfrm>
            <a:off x="4174521" y="741880"/>
            <a:ext cx="1616680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684884"/>
                </a:solidFill>
                <a:latin typeface="Arial"/>
                <a:ea typeface="Arial"/>
                <a:cs typeface="Arial"/>
              </a:rPr>
              <a:t>Future Goal</a:t>
            </a:r>
            <a:endParaRPr lang="en-US" sz="1050" b="1" i="0" dirty="0">
              <a:solidFill>
                <a:srgbClr val="684884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Agentic AI as a collaborator that accelerates scientific discovery</a:t>
            </a:r>
            <a:endParaRPr sz="900" b="1" i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E3AB6-CB5A-4B04-870B-A0D2ED451560}"/>
              </a:ext>
            </a:extLst>
          </p:cNvPr>
          <p:cNvSpPr>
            <a:spLocks noGrp="1"/>
          </p:cNvSpPr>
          <p:nvPr/>
        </p:nvSpPr>
        <p:spPr>
          <a:xfrm>
            <a:off x="6133891" y="237549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B. Our Contribution: Evidence-Traceable Scientific Knowledge Construction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E738A0-1082-449D-9336-2E59A0B0075D}"/>
              </a:ext>
            </a:extLst>
          </p:cNvPr>
          <p:cNvSpPr>
            <a:spLocks noGrp="1"/>
          </p:cNvSpPr>
          <p:nvPr/>
        </p:nvSpPr>
        <p:spPr>
          <a:xfrm>
            <a:off x="6384323" y="752925"/>
            <a:ext cx="2037722" cy="34119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Source</a:t>
            </a:r>
            <a:r>
              <a:rPr lang="zh-CN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acquisition</a:t>
            </a: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sᵢ: the </a:t>
            </a:r>
            <a:r>
              <a:rPr lang="en-US" altLang="zh-CN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i-th</a:t>
            </a: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source; </a:t>
            </a: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n: total number of sources</a:t>
            </a: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S_A: official &amp; operational</a:t>
            </a: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S_B: scientific &amp; research</a:t>
            </a: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S_C: public context</a:t>
            </a: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altLang="zh-CN" sz="105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marL="228600" indent="-228600" algn="l">
              <a:lnSpc>
                <a:spcPct val="108000"/>
              </a:lnSpc>
              <a:buAutoNum type="alphaLcParenR"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lang="en-US" sz="1050" b="1" i="0" dirty="0">
              <a:solidFill>
                <a:srgbClr val="0B3B8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traight Connector 119">
            <a:extLst>
              <a:ext uri="{FF2B5EF4-FFF2-40B4-BE49-F238E27FC236}">
                <a16:creationId xmlns:a16="http://schemas.microsoft.com/office/drawing/2014/main" id="{6050D736-0A9D-463F-92FE-96D634145C17}"/>
              </a:ext>
            </a:extLst>
          </p:cNvPr>
          <p:cNvSpPr>
            <a:spLocks noGrp="1"/>
          </p:cNvSpPr>
          <p:nvPr/>
        </p:nvSpPr>
        <p:spPr>
          <a:xfrm>
            <a:off x="12496800" y="4638675"/>
            <a:ext cx="542925" cy="0"/>
          </a:xfrm>
          <a:prstGeom prst="line">
            <a:avLst/>
          </a:prstGeom>
          <a:noFill/>
          <a:ln w="9525">
            <a:solidFill>
              <a:srgbClr val="9BC3E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B9520BA-681C-42DE-A85D-9C0035F754AD}"/>
              </a:ext>
            </a:extLst>
          </p:cNvPr>
          <p:cNvSpPr>
            <a:spLocks noGrp="1"/>
          </p:cNvSpPr>
          <p:nvPr/>
        </p:nvSpPr>
        <p:spPr>
          <a:xfrm>
            <a:off x="238125" y="4845621"/>
            <a:ext cx="5857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8518"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C. </a:t>
            </a:r>
            <a:r>
              <a:rPr lang="en-US" sz="15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Study Case: Lake Powell as an example</a:t>
            </a:r>
            <a:endParaRPr sz="1500" b="1" i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7CE6093-DF4B-461F-B640-117BB9499746}"/>
              </a:ext>
            </a:extLst>
          </p:cNvPr>
          <p:cNvSpPr>
            <a:spLocks noGrp="1"/>
          </p:cNvSpPr>
          <p:nvPr/>
        </p:nvSpPr>
        <p:spPr>
          <a:xfrm>
            <a:off x="8258428" y="4845516"/>
            <a:ext cx="581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8518"/>
          </a:bodyPr>
          <a:lstStyle/>
          <a:p>
            <a:pPr algn="l">
              <a:lnSpc>
                <a:spcPct val="108000"/>
              </a:lnSpc>
              <a:buNone/>
              <a:defRPr sz="150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5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D. Impact: Enabling Human-AI Scientific Discovery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D161333C-455D-4F1F-B350-E25211F1C655}"/>
              </a:ext>
            </a:extLst>
          </p:cNvPr>
          <p:cNvSpPr>
            <a:spLocks noGrp="1"/>
          </p:cNvSpPr>
          <p:nvPr/>
        </p:nvSpPr>
        <p:spPr>
          <a:xfrm>
            <a:off x="9031793" y="5543550"/>
            <a:ext cx="4819650" cy="2219325"/>
          </a:xfrm>
          <a:prstGeom prst="roundRect">
            <a:avLst>
              <a:gd name="adj" fmla="val 3433"/>
            </a:avLst>
          </a:prstGeom>
          <a:solidFill>
            <a:srgbClr val="EEF9E9"/>
          </a:solidFill>
          <a:ln w="9525">
            <a:solidFill>
              <a:srgbClr val="A7D1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F9C9E643-66DB-4806-B7A1-65C1B844122C}"/>
              </a:ext>
            </a:extLst>
          </p:cNvPr>
          <p:cNvSpPr>
            <a:spLocks noGrp="1"/>
          </p:cNvSpPr>
          <p:nvPr/>
        </p:nvSpPr>
        <p:spPr>
          <a:xfrm>
            <a:off x="10212893" y="56864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678" lnSpcReduction="10000"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From Syntheses to Scientific Inquiry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3BC42369-50DE-47F9-B6A1-0E0A6E39FFFA}"/>
              </a:ext>
            </a:extLst>
          </p:cNvPr>
          <p:cNvSpPr>
            <a:spLocks noGrp="1"/>
          </p:cNvSpPr>
          <p:nvPr/>
        </p:nvSpPr>
        <p:spPr>
          <a:xfrm>
            <a:off x="9231818" y="6172200"/>
            <a:ext cx="514350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A7D19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SC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263C516-2185-40EA-B303-A264C0CC676D}"/>
              </a:ext>
            </a:extLst>
          </p:cNvPr>
          <p:cNvSpPr>
            <a:spLocks noGrp="1"/>
          </p:cNvSpPr>
          <p:nvPr/>
        </p:nvSpPr>
        <p:spPr>
          <a:xfrm>
            <a:off x="9127043" y="6858000"/>
            <a:ext cx="742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628"/>
          </a:bodyPr>
          <a:lstStyle/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 dirty="0">
                <a:solidFill>
                  <a:srgbClr val="1B6B26"/>
                </a:solidFill>
                <a:latin typeface="Arial"/>
                <a:ea typeface="Arial"/>
                <a:cs typeface="Arial"/>
              </a:rPr>
              <a:t>Synthesis &amp;</a:t>
            </a:r>
          </a:p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 dirty="0">
                <a:solidFill>
                  <a:srgbClr val="1B6B26"/>
                </a:solidFill>
                <a:latin typeface="Arial"/>
                <a:ea typeface="Arial"/>
                <a:cs typeface="Arial"/>
              </a:rPr>
              <a:t>Cards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DB4A0224-3D5C-4D91-8771-29942693BA08}"/>
              </a:ext>
            </a:extLst>
          </p:cNvPr>
          <p:cNvSpPr>
            <a:spLocks noGrp="1"/>
          </p:cNvSpPr>
          <p:nvPr/>
        </p:nvSpPr>
        <p:spPr>
          <a:xfrm>
            <a:off x="9060368" y="7210425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Traceable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scientific insights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06488AEB-C385-4B4E-89FD-D1A398720B1D}"/>
              </a:ext>
            </a:extLst>
          </p:cNvPr>
          <p:cNvSpPr>
            <a:spLocks noGrp="1"/>
          </p:cNvSpPr>
          <p:nvPr/>
        </p:nvSpPr>
        <p:spPr>
          <a:xfrm>
            <a:off x="10289093" y="6172200"/>
            <a:ext cx="514350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A7D19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1739E464-77C9-4088-A4F7-38BF243805C8}"/>
              </a:ext>
            </a:extLst>
          </p:cNvPr>
          <p:cNvSpPr>
            <a:spLocks noGrp="1"/>
          </p:cNvSpPr>
          <p:nvPr/>
        </p:nvSpPr>
        <p:spPr>
          <a:xfrm>
            <a:off x="10184318" y="6858000"/>
            <a:ext cx="742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628"/>
          </a:bodyPr>
          <a:lstStyle/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Research</a:t>
            </a:r>
          </a:p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B86AF06-7241-439E-830C-F60F4B0D5D49}"/>
              </a:ext>
            </a:extLst>
          </p:cNvPr>
          <p:cNvSpPr>
            <a:spLocks noGrp="1"/>
          </p:cNvSpPr>
          <p:nvPr/>
        </p:nvSpPr>
        <p:spPr>
          <a:xfrm>
            <a:off x="10117643" y="7210425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Identify gaps and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206" name="Arrow: Right 205">
            <a:extLst>
              <a:ext uri="{FF2B5EF4-FFF2-40B4-BE49-F238E27FC236}">
                <a16:creationId xmlns:a16="http://schemas.microsoft.com/office/drawing/2014/main" id="{C9BB4398-9E8C-4C34-A922-C3C7469A97A5}"/>
              </a:ext>
            </a:extLst>
          </p:cNvPr>
          <p:cNvSpPr>
            <a:spLocks noGrp="1"/>
          </p:cNvSpPr>
          <p:nvPr/>
        </p:nvSpPr>
        <p:spPr>
          <a:xfrm>
            <a:off x="9850943" y="6410325"/>
            <a:ext cx="238125" cy="76200"/>
          </a:xfrm>
          <a:prstGeom prst="rightArrow">
            <a:avLst/>
          </a:prstGeom>
          <a:solidFill>
            <a:srgbClr val="1B6B26"/>
          </a:solidFill>
          <a:ln w="0">
            <a:solidFill>
              <a:srgbClr val="1B6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D5264D67-DA0C-4B7F-AD4B-07F1D9172861}"/>
              </a:ext>
            </a:extLst>
          </p:cNvPr>
          <p:cNvSpPr>
            <a:spLocks noGrp="1"/>
          </p:cNvSpPr>
          <p:nvPr/>
        </p:nvSpPr>
        <p:spPr>
          <a:xfrm>
            <a:off x="11203493" y="6172200"/>
            <a:ext cx="514350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A7D19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7B7182E-39A5-4956-81D3-9812D786FECE}"/>
              </a:ext>
            </a:extLst>
          </p:cNvPr>
          <p:cNvSpPr>
            <a:spLocks noGrp="1"/>
          </p:cNvSpPr>
          <p:nvPr/>
        </p:nvSpPr>
        <p:spPr>
          <a:xfrm>
            <a:off x="11098718" y="6858000"/>
            <a:ext cx="742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9311"/>
          </a:bodyPr>
          <a:lstStyle/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DB84F96-ACDA-4062-B481-82E0125C2760}"/>
              </a:ext>
            </a:extLst>
          </p:cNvPr>
          <p:cNvSpPr>
            <a:spLocks noGrp="1"/>
          </p:cNvSpPr>
          <p:nvPr/>
        </p:nvSpPr>
        <p:spPr>
          <a:xfrm>
            <a:off x="11032043" y="7210425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Formulate and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766E21D6-638C-48BC-8EF2-9D7580E866F8}"/>
              </a:ext>
            </a:extLst>
          </p:cNvPr>
          <p:cNvSpPr>
            <a:spLocks noGrp="1"/>
          </p:cNvSpPr>
          <p:nvPr/>
        </p:nvSpPr>
        <p:spPr>
          <a:xfrm>
            <a:off x="10765343" y="6410325"/>
            <a:ext cx="238125" cy="76200"/>
          </a:xfrm>
          <a:prstGeom prst="rightArrow">
            <a:avLst/>
          </a:prstGeom>
          <a:solidFill>
            <a:srgbClr val="1B6B26"/>
          </a:solidFill>
          <a:ln w="0">
            <a:solidFill>
              <a:srgbClr val="1B6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0A1470F7-A7BA-41C1-A8DC-BC1D4F910155}"/>
              </a:ext>
            </a:extLst>
          </p:cNvPr>
          <p:cNvSpPr>
            <a:spLocks noGrp="1"/>
          </p:cNvSpPr>
          <p:nvPr/>
        </p:nvSpPr>
        <p:spPr>
          <a:xfrm>
            <a:off x="12194093" y="6172200"/>
            <a:ext cx="514350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A7D19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E7AAF42-CAE5-4D6B-8849-A9682FF763A8}"/>
              </a:ext>
            </a:extLst>
          </p:cNvPr>
          <p:cNvSpPr>
            <a:spLocks noGrp="1"/>
          </p:cNvSpPr>
          <p:nvPr/>
        </p:nvSpPr>
        <p:spPr>
          <a:xfrm>
            <a:off x="12089318" y="6858000"/>
            <a:ext cx="742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628"/>
          </a:bodyPr>
          <a:lstStyle/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New Studies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BAF2819-3BB4-4601-8DE0-C7703406896A}"/>
              </a:ext>
            </a:extLst>
          </p:cNvPr>
          <p:cNvSpPr>
            <a:spLocks noGrp="1"/>
          </p:cNvSpPr>
          <p:nvPr/>
        </p:nvSpPr>
        <p:spPr>
          <a:xfrm>
            <a:off x="12022643" y="7210425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3359" lnSpcReduction="20000"/>
          </a:bodyPr>
          <a:lstStyle/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Design observations,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experiments,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and analyses</a:t>
            </a:r>
          </a:p>
        </p:txBody>
      </p:sp>
      <p:sp>
        <p:nvSpPr>
          <p:cNvPr id="214" name="Arrow: Right 213">
            <a:extLst>
              <a:ext uri="{FF2B5EF4-FFF2-40B4-BE49-F238E27FC236}">
                <a16:creationId xmlns:a16="http://schemas.microsoft.com/office/drawing/2014/main" id="{54D2E860-12C5-42A8-976C-51107ECB459A}"/>
              </a:ext>
            </a:extLst>
          </p:cNvPr>
          <p:cNvSpPr>
            <a:spLocks noGrp="1"/>
          </p:cNvSpPr>
          <p:nvPr/>
        </p:nvSpPr>
        <p:spPr>
          <a:xfrm>
            <a:off x="11755943" y="6410325"/>
            <a:ext cx="238125" cy="76200"/>
          </a:xfrm>
          <a:prstGeom prst="rightArrow">
            <a:avLst/>
          </a:prstGeom>
          <a:solidFill>
            <a:srgbClr val="1B6B26"/>
          </a:solidFill>
          <a:ln w="0">
            <a:solidFill>
              <a:srgbClr val="1B6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F013C516-5741-472D-8A26-25249F753A9A}"/>
              </a:ext>
            </a:extLst>
          </p:cNvPr>
          <p:cNvSpPr>
            <a:spLocks noGrp="1"/>
          </p:cNvSpPr>
          <p:nvPr/>
        </p:nvSpPr>
        <p:spPr>
          <a:xfrm>
            <a:off x="13251368" y="6172200"/>
            <a:ext cx="514350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A7D19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9EAD64A-1B23-469A-AA15-CA06F5FFCF7E}"/>
              </a:ext>
            </a:extLst>
          </p:cNvPr>
          <p:cNvSpPr>
            <a:spLocks noGrp="1"/>
          </p:cNvSpPr>
          <p:nvPr/>
        </p:nvSpPr>
        <p:spPr>
          <a:xfrm>
            <a:off x="13146593" y="6858000"/>
            <a:ext cx="7429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5628"/>
          </a:bodyPr>
          <a:lstStyle/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Scientific</a:t>
            </a:r>
          </a:p>
          <a:p>
            <a:pPr algn="ctr">
              <a:lnSpc>
                <a:spcPct val="108000"/>
              </a:lnSpc>
              <a:buNone/>
              <a:defRPr sz="938" b="1" i="0">
                <a:solidFill>
                  <a:srgbClr val="1B6B26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B6B26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8370DFF-54B3-46AC-9AF4-02E0297BA8AC}"/>
              </a:ext>
            </a:extLst>
          </p:cNvPr>
          <p:cNvSpPr>
            <a:spLocks noGrp="1"/>
          </p:cNvSpPr>
          <p:nvPr/>
        </p:nvSpPr>
        <p:spPr>
          <a:xfrm>
            <a:off x="13079918" y="7210425"/>
            <a:ext cx="89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New knowledge,</a:t>
            </a:r>
          </a:p>
          <a:p>
            <a:pPr algn="ctr">
              <a:lnSpc>
                <a:spcPct val="108000"/>
              </a:lnSpc>
              <a:buNone/>
              <a:defRPr sz="825" b="0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5080F"/>
                </a:solidFill>
                <a:latin typeface="Arial"/>
                <a:ea typeface="Arial"/>
                <a:cs typeface="Arial"/>
              </a:rPr>
              <a:t>better decisions</a:t>
            </a:r>
          </a:p>
        </p:txBody>
      </p:sp>
      <p:sp>
        <p:nvSpPr>
          <p:cNvPr id="218" name="Arrow: Right 217">
            <a:extLst>
              <a:ext uri="{FF2B5EF4-FFF2-40B4-BE49-F238E27FC236}">
                <a16:creationId xmlns:a16="http://schemas.microsoft.com/office/drawing/2014/main" id="{C71F54F3-11E6-4FAC-B58C-805D45DD0E45}"/>
              </a:ext>
            </a:extLst>
          </p:cNvPr>
          <p:cNvSpPr>
            <a:spLocks noGrp="1"/>
          </p:cNvSpPr>
          <p:nvPr/>
        </p:nvSpPr>
        <p:spPr>
          <a:xfrm>
            <a:off x="12813218" y="6410325"/>
            <a:ext cx="238125" cy="76200"/>
          </a:xfrm>
          <a:prstGeom prst="rightArrow">
            <a:avLst/>
          </a:prstGeom>
          <a:solidFill>
            <a:srgbClr val="1B6B26"/>
          </a:solidFill>
          <a:ln w="0">
            <a:solidFill>
              <a:srgbClr val="1B6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1BF3B23B-9CE4-4AD1-ABF6-A96A89242343}"/>
              </a:ext>
            </a:extLst>
          </p:cNvPr>
          <p:cNvSpPr>
            <a:spLocks noGrp="1"/>
          </p:cNvSpPr>
          <p:nvPr/>
        </p:nvSpPr>
        <p:spPr>
          <a:xfrm>
            <a:off x="9031793" y="7905750"/>
            <a:ext cx="4819650" cy="609600"/>
          </a:xfrm>
          <a:prstGeom prst="roundRect">
            <a:avLst>
              <a:gd name="adj" fmla="val 10938"/>
            </a:avLst>
          </a:prstGeom>
          <a:solidFill>
            <a:srgbClr val="F5FBFF"/>
          </a:solidFill>
          <a:ln w="9525">
            <a:solidFill>
              <a:srgbClr val="96C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56956A7-93E1-442D-A938-7D44CE8A5BB7}"/>
              </a:ext>
            </a:extLst>
          </p:cNvPr>
          <p:cNvSpPr>
            <a:spLocks noGrp="1"/>
          </p:cNvSpPr>
          <p:nvPr/>
        </p:nvSpPr>
        <p:spPr>
          <a:xfrm>
            <a:off x="9603293" y="8086725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87232" lnSpcReduction="20000"/>
          </a:bodyPr>
          <a:lstStyle/>
          <a:p>
            <a:pPr algn="ctr">
              <a:lnSpc>
                <a:spcPct val="108000"/>
              </a:lnSpc>
              <a:buNone/>
              <a:defRPr sz="1125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A66"/>
                </a:solidFill>
                <a:latin typeface="Arial"/>
                <a:ea typeface="Arial"/>
                <a:cs typeface="Arial"/>
              </a:rPr>
              <a:t>AI constructs trustworthy knowledge.</a:t>
            </a:r>
          </a:p>
          <a:p>
            <a:pPr algn="ctr">
              <a:lnSpc>
                <a:spcPct val="108000"/>
              </a:lnSpc>
              <a:buNone/>
              <a:defRPr sz="1125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A66"/>
                </a:solidFill>
                <a:latin typeface="Arial"/>
                <a:ea typeface="Arial"/>
                <a:cs typeface="Arial"/>
              </a:rPr>
              <a:t>Humans drive discovery.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AEF5D8C0-689B-4968-8C20-3A9FE299D0DD}"/>
              </a:ext>
            </a:extLst>
          </p:cNvPr>
          <p:cNvSpPr>
            <a:spLocks noGrp="1"/>
          </p:cNvSpPr>
          <p:nvPr/>
        </p:nvSpPr>
        <p:spPr>
          <a:xfrm>
            <a:off x="12203618" y="80867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2A66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85EBCB3-7BEC-40EC-84B0-7823E3F19691}"/>
              </a:ext>
            </a:extLst>
          </p:cNvPr>
          <p:cNvSpPr>
            <a:spLocks noGrp="1"/>
          </p:cNvSpPr>
          <p:nvPr/>
        </p:nvSpPr>
        <p:spPr>
          <a:xfrm>
            <a:off x="12660818" y="8086725"/>
            <a:ext cx="552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1090"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2A66"/>
                </a:solidFill>
                <a:latin typeface="Arial"/>
                <a:ea typeface="Arial"/>
                <a:cs typeface="Arial"/>
              </a:rPr>
              <a:t>&lt;-&gt;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18B7B150-8137-41CE-88BE-7AEDF01B918E}"/>
              </a:ext>
            </a:extLst>
          </p:cNvPr>
          <p:cNvSpPr>
            <a:spLocks noGrp="1"/>
          </p:cNvSpPr>
          <p:nvPr/>
        </p:nvSpPr>
        <p:spPr>
          <a:xfrm>
            <a:off x="13156118" y="80867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082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0B2A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A66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pic>
        <p:nvPicPr>
          <p:cNvPr id="257" name="Graphic 256">
            <a:extLst>
              <a:ext uri="{FF2B5EF4-FFF2-40B4-BE49-F238E27FC236}">
                <a16:creationId xmlns:a16="http://schemas.microsoft.com/office/drawing/2014/main" id="{0A6B6360-AD8F-FF68-A637-44C3202B4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608" y="3417033"/>
            <a:ext cx="697454" cy="697454"/>
          </a:xfrm>
          <a:prstGeom prst="rect">
            <a:avLst/>
          </a:prstGeom>
        </p:spPr>
      </p:pic>
      <p:sp>
        <p:nvSpPr>
          <p:cNvPr id="259" name="Rectangle 258">
            <a:extLst>
              <a:ext uri="{FF2B5EF4-FFF2-40B4-BE49-F238E27FC236}">
                <a16:creationId xmlns:a16="http://schemas.microsoft.com/office/drawing/2014/main" id="{BCC1C4B8-F1C2-4E14-8E32-AF30343FEC6F}"/>
              </a:ext>
            </a:extLst>
          </p:cNvPr>
          <p:cNvSpPr>
            <a:spLocks noGrp="1"/>
          </p:cNvSpPr>
          <p:nvPr/>
        </p:nvSpPr>
        <p:spPr>
          <a:xfrm>
            <a:off x="1585894" y="2042583"/>
            <a:ext cx="1750428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fontScale="92500" lnSpcReduction="20000"/>
          </a:bodyPr>
          <a:lstStyle/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244696"/>
                </a:solidFill>
                <a:latin typeface="Arial"/>
                <a:ea typeface="Arial"/>
                <a:cs typeface="Arial"/>
              </a:rPr>
              <a:t>Level </a:t>
            </a:r>
            <a:r>
              <a:rPr lang="en-US" sz="1050" b="1" i="0" dirty="0">
                <a:solidFill>
                  <a:srgbClr val="244696"/>
                </a:solidFill>
                <a:latin typeface="Arial"/>
                <a:ea typeface="Arial"/>
                <a:cs typeface="Arial"/>
              </a:rPr>
              <a:t>2</a:t>
            </a:r>
          </a:p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44696"/>
                </a:solidFill>
                <a:latin typeface="Arial"/>
                <a:ea typeface="Arial"/>
                <a:cs typeface="Arial"/>
              </a:rPr>
              <a:t>Knowledge Construction</a:t>
            </a:r>
          </a:p>
          <a:p>
            <a:pPr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1000" i="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Integrate evidence across sources, organize into coherent knowledge, and produce traceable syntheses</a:t>
            </a:r>
            <a:endParaRPr sz="1000" i="0" dirty="0">
              <a:solidFill>
                <a:srgbClr val="05080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1" name="Graphic 260">
            <a:extLst>
              <a:ext uri="{FF2B5EF4-FFF2-40B4-BE49-F238E27FC236}">
                <a16:creationId xmlns:a16="http://schemas.microsoft.com/office/drawing/2014/main" id="{3A363AB1-A79F-AC8B-7F3C-51A1F3B2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01494" y="2130884"/>
            <a:ext cx="546121" cy="624505"/>
          </a:xfrm>
          <a:prstGeom prst="rect">
            <a:avLst/>
          </a:prstGeom>
        </p:spPr>
      </p:pic>
      <p:sp>
        <p:nvSpPr>
          <p:cNvPr id="263" name="Rectangle 262">
            <a:extLst>
              <a:ext uri="{FF2B5EF4-FFF2-40B4-BE49-F238E27FC236}">
                <a16:creationId xmlns:a16="http://schemas.microsoft.com/office/drawing/2014/main" id="{375B7FBE-36CE-0610-1730-38513A7CFEAF}"/>
              </a:ext>
            </a:extLst>
          </p:cNvPr>
          <p:cNvSpPr>
            <a:spLocks noGrp="1"/>
          </p:cNvSpPr>
          <p:nvPr/>
        </p:nvSpPr>
        <p:spPr>
          <a:xfrm>
            <a:off x="1561873" y="752925"/>
            <a:ext cx="1856976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 lnSpcReduction="10000"/>
          </a:bodyPr>
          <a:lstStyle/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684884"/>
                </a:solidFill>
                <a:latin typeface="Arial"/>
                <a:ea typeface="Arial"/>
                <a:cs typeface="Arial"/>
              </a:rPr>
              <a:t>Level </a:t>
            </a:r>
            <a:r>
              <a:rPr lang="en-US" sz="1050" b="1" dirty="0">
                <a:solidFill>
                  <a:srgbClr val="684884"/>
                </a:solidFill>
                <a:latin typeface="Arial"/>
                <a:ea typeface="Arial"/>
                <a:cs typeface="Arial"/>
              </a:rPr>
              <a:t>3</a:t>
            </a:r>
            <a:endParaRPr lang="en-US" sz="1050" b="1" i="0" dirty="0">
              <a:solidFill>
                <a:srgbClr val="684884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684884"/>
                </a:solidFill>
                <a:latin typeface="Arial"/>
                <a:ea typeface="Arial"/>
                <a:cs typeface="Arial"/>
              </a:rPr>
              <a:t>Scientific Discovery</a:t>
            </a:r>
          </a:p>
          <a:p>
            <a:pPr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900" i="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Formulate new questions, </a:t>
            </a:r>
          </a:p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90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Develop hypotheses,</a:t>
            </a:r>
          </a:p>
          <a:p>
            <a:pPr>
              <a:lnSpc>
                <a:spcPct val="108000"/>
              </a:lnSpc>
              <a:buNone/>
              <a:defRPr sz="1050" b="1" i="0">
                <a:solidFill>
                  <a:srgbClr val="05080F"/>
                </a:solidFill>
                <a:latin typeface="Arial"/>
                <a:ea typeface="Arial"/>
                <a:cs typeface="Arial"/>
              </a:defRPr>
            </a:pPr>
            <a:r>
              <a:rPr lang="en-US" sz="900" i="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And generate in</a:t>
            </a:r>
            <a:r>
              <a:rPr lang="en-US" sz="900" dirty="0">
                <a:solidFill>
                  <a:srgbClr val="05080F"/>
                </a:solidFill>
                <a:latin typeface="Arial"/>
                <a:ea typeface="Arial"/>
                <a:cs typeface="Arial"/>
              </a:rPr>
              <a:t>sights</a:t>
            </a:r>
            <a:endParaRPr sz="900" i="0" dirty="0">
              <a:solidFill>
                <a:srgbClr val="05080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5" name="Graphic 264">
            <a:extLst>
              <a:ext uri="{FF2B5EF4-FFF2-40B4-BE49-F238E27FC236}">
                <a16:creationId xmlns:a16="http://schemas.microsoft.com/office/drawing/2014/main" id="{71A30486-016C-9EC9-56CA-349833EAB2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700" y="873308"/>
            <a:ext cx="565937" cy="565937"/>
          </a:xfrm>
          <a:prstGeom prst="rect">
            <a:avLst/>
          </a:prstGeom>
        </p:spPr>
      </p:pic>
      <p:pic>
        <p:nvPicPr>
          <p:cNvPr id="267" name="Graphic 266">
            <a:extLst>
              <a:ext uri="{FF2B5EF4-FFF2-40B4-BE49-F238E27FC236}">
                <a16:creationId xmlns:a16="http://schemas.microsoft.com/office/drawing/2014/main" id="{89BBB9C4-D953-1B98-BE8A-0DE10B8C2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1466" y="690510"/>
            <a:ext cx="499016" cy="499016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EAB6CED0-52DB-72D8-FC9D-8A42244B0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0603" y="1946447"/>
            <a:ext cx="496532" cy="496532"/>
          </a:xfrm>
          <a:prstGeom prst="rect">
            <a:avLst/>
          </a:prstGeom>
        </p:spPr>
      </p:pic>
      <p:sp>
        <p:nvSpPr>
          <p:cNvPr id="271" name="Rectangle 270">
            <a:extLst>
              <a:ext uri="{FF2B5EF4-FFF2-40B4-BE49-F238E27FC236}">
                <a16:creationId xmlns:a16="http://schemas.microsoft.com/office/drawing/2014/main" id="{92276482-9267-BF7A-C252-B763F94B8FDA}"/>
              </a:ext>
            </a:extLst>
          </p:cNvPr>
          <p:cNvSpPr>
            <a:spLocks noGrp="1"/>
          </p:cNvSpPr>
          <p:nvPr/>
        </p:nvSpPr>
        <p:spPr>
          <a:xfrm>
            <a:off x="4170281" y="1996836"/>
            <a:ext cx="1600201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44696"/>
                </a:solidFill>
                <a:latin typeface="Arial"/>
                <a:ea typeface="Arial"/>
                <a:cs typeface="Arial"/>
              </a:rPr>
              <a:t>Current Focus</a:t>
            </a:r>
            <a:endParaRPr lang="en-US" sz="1050" b="1" i="0" dirty="0">
              <a:solidFill>
                <a:srgbClr val="244696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Build evidence-traceable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scientific knowledge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that is reliable, and reusable</a:t>
            </a:r>
            <a:endParaRPr sz="900" b="1" i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3" name="Graphic 272">
            <a:extLst>
              <a:ext uri="{FF2B5EF4-FFF2-40B4-BE49-F238E27FC236}">
                <a16:creationId xmlns:a16="http://schemas.microsoft.com/office/drawing/2014/main" id="{49BB7C0F-86F6-50DC-DE69-E9609CAD2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465" y="3274430"/>
            <a:ext cx="468433" cy="468433"/>
          </a:xfrm>
          <a:prstGeom prst="rect">
            <a:avLst/>
          </a:prstGeom>
        </p:spPr>
      </p:pic>
      <p:sp>
        <p:nvSpPr>
          <p:cNvPr id="275" name="Rectangle 274">
            <a:extLst>
              <a:ext uri="{FF2B5EF4-FFF2-40B4-BE49-F238E27FC236}">
                <a16:creationId xmlns:a16="http://schemas.microsoft.com/office/drawing/2014/main" id="{96134C0D-5ECD-22B3-4A75-01657E5494EA}"/>
              </a:ext>
            </a:extLst>
          </p:cNvPr>
          <p:cNvSpPr>
            <a:spLocks noGrp="1"/>
          </p:cNvSpPr>
          <p:nvPr/>
        </p:nvSpPr>
        <p:spPr>
          <a:xfrm>
            <a:off x="4155472" y="3321007"/>
            <a:ext cx="1559582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F732B"/>
                </a:solidFill>
                <a:latin typeface="Arial"/>
                <a:ea typeface="Arial"/>
                <a:cs typeface="Arial"/>
              </a:rPr>
              <a:t>Well Developed</a:t>
            </a:r>
            <a:endParaRPr lang="en-US" sz="1050" b="1" i="0" dirty="0">
              <a:solidFill>
                <a:srgbClr val="2F73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spcBef>
                <a:spcPts val="300"/>
              </a:spcBef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Strong at retrieving, extracting, and organizing information at scale</a:t>
            </a:r>
            <a:endParaRPr sz="900" b="1" i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9" name="Picture 278">
            <a:extLst>
              <a:ext uri="{FF2B5EF4-FFF2-40B4-BE49-F238E27FC236}">
                <a16:creationId xmlns:a16="http://schemas.microsoft.com/office/drawing/2014/main" id="{77DEEDEE-CB70-3CF2-6FFF-114549EB60F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693" r="1589" b="32923"/>
          <a:stretch>
            <a:fillRect/>
          </a:stretch>
        </p:blipFill>
        <p:spPr>
          <a:xfrm>
            <a:off x="250481" y="5299618"/>
            <a:ext cx="7362511" cy="3416680"/>
          </a:xfrm>
          <a:prstGeom prst="rect">
            <a:avLst/>
          </a:prstGeom>
        </p:spPr>
      </p:pic>
      <p:sp>
        <p:nvSpPr>
          <p:cNvPr id="299" name="Rectangle 298">
            <a:extLst>
              <a:ext uri="{FF2B5EF4-FFF2-40B4-BE49-F238E27FC236}">
                <a16:creationId xmlns:a16="http://schemas.microsoft.com/office/drawing/2014/main" id="{93AC9A8F-96A7-F441-0968-1EC4C3DE6DE1}"/>
              </a:ext>
            </a:extLst>
          </p:cNvPr>
          <p:cNvSpPr>
            <a:spLocks noGrp="1"/>
          </p:cNvSpPr>
          <p:nvPr/>
        </p:nvSpPr>
        <p:spPr>
          <a:xfrm>
            <a:off x="9259345" y="736233"/>
            <a:ext cx="2324257" cy="1387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b)</a:t>
            </a:r>
            <a:r>
              <a:rPr lang="zh-CN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Evidence extraction</a:t>
            </a: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/>
              <a:t>Extract validated, source-grounded findings from individual documents.</a:t>
            </a:r>
            <a:endParaRPr lang="en-US" sz="1100" b="1" dirty="0">
              <a:solidFill>
                <a:srgbClr val="0B3B8F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endParaRPr sz="1050" b="1" i="0" dirty="0">
              <a:solidFill>
                <a:srgbClr val="0B3B8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3E1E7950-14A6-2780-C105-6C2C8F60C8F2}"/>
              </a:ext>
            </a:extLst>
          </p:cNvPr>
          <p:cNvSpPr>
            <a:spLocks noGrp="1"/>
          </p:cNvSpPr>
          <p:nvPr/>
        </p:nvSpPr>
        <p:spPr>
          <a:xfrm>
            <a:off x="9259764" y="2839949"/>
            <a:ext cx="2324257" cy="1387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c</a:t>
            </a:r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r>
              <a:rPr lang="zh-CN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Knowledge consolidation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9B75353-0380-18C4-81B1-237A248EC0DC}"/>
              </a:ext>
            </a:extLst>
          </p:cNvPr>
          <p:cNvSpPr>
            <a:spLocks noGrp="1"/>
          </p:cNvSpPr>
          <p:nvPr/>
        </p:nvSpPr>
        <p:spPr>
          <a:xfrm>
            <a:off x="12222668" y="2736359"/>
            <a:ext cx="1979107" cy="1387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1" i="0">
                <a:solidFill>
                  <a:srgbClr val="0B3B8F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d)</a:t>
            </a:r>
            <a:r>
              <a:rPr lang="zh-CN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901B8206-04AC-1882-9F07-1CED94A71310}"/>
                  </a:ext>
                </a:extLst>
              </p:cNvPr>
              <p:cNvSpPr txBox="1"/>
              <p:nvPr/>
            </p:nvSpPr>
            <p:spPr>
              <a:xfrm>
                <a:off x="6659757" y="1143609"/>
                <a:ext cx="1145762" cy="2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901B8206-04AC-1882-9F07-1CED94A71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757" y="1143609"/>
                <a:ext cx="1145762" cy="278025"/>
              </a:xfrm>
              <a:prstGeom prst="rect">
                <a:avLst/>
              </a:prstGeom>
              <a:blipFill>
                <a:blip r:embed="rId10"/>
                <a:stretch>
                  <a:fillRect l="-4255" r="-106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EBE900F-1E06-2F48-F98F-8C5BD5719E35}"/>
                  </a:ext>
                </a:extLst>
              </p:cNvPr>
              <p:cNvSpPr txBox="1"/>
              <p:nvPr/>
            </p:nvSpPr>
            <p:spPr>
              <a:xfrm>
                <a:off x="6437107" y="1537054"/>
                <a:ext cx="1740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EBE900F-1E06-2F48-F98F-8C5BD5719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107" y="1537054"/>
                <a:ext cx="1740348" cy="276999"/>
              </a:xfrm>
              <a:prstGeom prst="rect">
                <a:avLst/>
              </a:prstGeom>
              <a:blipFill>
                <a:blip r:embed="rId11"/>
                <a:stretch>
                  <a:fillRect l="-2807" r="-35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A3D42DC8-E79D-ABE2-8193-F785CF7FAFA0}"/>
                  </a:ext>
                </a:extLst>
              </p:cNvPr>
              <p:cNvSpPr txBox="1"/>
              <p:nvPr/>
            </p:nvSpPr>
            <p:spPr>
              <a:xfrm>
                <a:off x="9665457" y="1439245"/>
                <a:ext cx="133434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A3D42DC8-E79D-ABE2-8193-F785CF7FA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5457" y="1439245"/>
                <a:ext cx="1334340" cy="299313"/>
              </a:xfrm>
              <a:prstGeom prst="rect">
                <a:avLst/>
              </a:prstGeom>
              <a:blipFill>
                <a:blip r:embed="rId12"/>
                <a:stretch>
                  <a:fillRect l="-2294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6E39393E-4A03-4B11-0B8D-70A395DB8E1E}"/>
                  </a:ext>
                </a:extLst>
              </p:cNvPr>
              <p:cNvSpPr txBox="1"/>
              <p:nvPr/>
            </p:nvSpPr>
            <p:spPr>
              <a:xfrm>
                <a:off x="9436858" y="1801913"/>
                <a:ext cx="1981760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6E39393E-4A03-4B11-0B8D-70A395DB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858" y="1801913"/>
                <a:ext cx="1981760" cy="318421"/>
              </a:xfrm>
              <a:prstGeom prst="rect">
                <a:avLst/>
              </a:prstGeom>
              <a:blipFill>
                <a:blip r:embed="rId13"/>
                <a:stretch>
                  <a:fillRect l="-1231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9E8031E5-621A-8E1C-4370-E6485C4811C4}"/>
                  </a:ext>
                </a:extLst>
              </p:cNvPr>
              <p:cNvSpPr txBox="1"/>
              <p:nvPr/>
            </p:nvSpPr>
            <p:spPr>
              <a:xfrm>
                <a:off x="9315065" y="3858758"/>
                <a:ext cx="2286652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:</m:t>
                          </m:r>
                          <m:func>
                            <m:func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topic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9E8031E5-621A-8E1C-4370-E6485C481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065" y="3858758"/>
                <a:ext cx="2286652" cy="299313"/>
              </a:xfrm>
              <a:prstGeom prst="rect">
                <a:avLst/>
              </a:prstGeom>
              <a:blipFill>
                <a:blip r:embed="rId14"/>
                <a:stretch>
                  <a:fillRect l="-1867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6F09F917-3EF0-6624-A425-217DD7F19DEC}"/>
                  </a:ext>
                </a:extLst>
              </p:cNvPr>
              <p:cNvSpPr txBox="1"/>
              <p:nvPr/>
            </p:nvSpPr>
            <p:spPr>
              <a:xfrm>
                <a:off x="11968504" y="3565119"/>
                <a:ext cx="2489528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6F09F917-3EF0-6624-A425-217DD7F19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504" y="3565119"/>
                <a:ext cx="2489528" cy="318421"/>
              </a:xfrm>
              <a:prstGeom prst="rect">
                <a:avLst/>
              </a:prstGeom>
              <a:blipFill>
                <a:blip r:embed="rId15"/>
                <a:stretch>
                  <a:fillRect l="-1711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6B70C63E-E180-61DD-C5D6-DFFC136A26BA}"/>
                  </a:ext>
                </a:extLst>
              </p:cNvPr>
              <p:cNvSpPr txBox="1"/>
              <p:nvPr/>
            </p:nvSpPr>
            <p:spPr>
              <a:xfrm>
                <a:off x="12519303" y="3915372"/>
                <a:ext cx="1557670" cy="3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syn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6B70C63E-E180-61DD-C5D6-DFFC136A2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9303" y="3915372"/>
                <a:ext cx="1557670" cy="302519"/>
              </a:xfrm>
              <a:prstGeom prst="rect">
                <a:avLst/>
              </a:prstGeom>
              <a:blipFill>
                <a:blip r:embed="rId16"/>
                <a:stretch>
                  <a:fillRect l="-3137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1" name="TextBox 330">
            <a:extLst>
              <a:ext uri="{FF2B5EF4-FFF2-40B4-BE49-F238E27FC236}">
                <a16:creationId xmlns:a16="http://schemas.microsoft.com/office/drawing/2014/main" id="{FDCD7035-902E-4BA2-51FD-9B96CBBE950F}"/>
              </a:ext>
            </a:extLst>
          </p:cNvPr>
          <p:cNvSpPr txBox="1"/>
          <p:nvPr/>
        </p:nvSpPr>
        <p:spPr>
          <a:xfrm>
            <a:off x="11968504" y="873308"/>
            <a:ext cx="1983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: source index</a:t>
            </a:r>
          </a:p>
          <a:p>
            <a:endParaRPr lang="en-US" dirty="0"/>
          </a:p>
          <a:p>
            <a:r>
              <a:rPr lang="en-US" dirty="0"/>
              <a:t>j : knowledge topic</a:t>
            </a:r>
          </a:p>
          <a:p>
            <a:endParaRPr lang="en-US" dirty="0"/>
          </a:p>
          <a:p>
            <a:r>
              <a:rPr lang="en-US" dirty="0"/>
              <a:t>m : synthesis card</a:t>
            </a:r>
          </a:p>
        </p:txBody>
      </p:sp>
    </p:spTree>
    <p:extLst>
      <p:ext uri="{BB962C8B-B14F-4D97-AF65-F5344CB8AC3E}">
        <p14:creationId xmlns:p14="http://schemas.microsoft.com/office/powerpoint/2010/main" val="41424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CB3FD29-E877-5673-B78D-E0B37402E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6832" y="4771016"/>
            <a:ext cx="697454" cy="69745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9EECDC3-FEF6-AB65-9757-A1BD01590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8432" y="5849401"/>
            <a:ext cx="2438400" cy="2438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DFF3EAD-1567-9F2F-4DBE-737228493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1883" y="5468470"/>
            <a:ext cx="2438400" cy="2438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AA28AF9-A88E-F862-8E5C-BDE5317B2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5228" y="3495758"/>
            <a:ext cx="468433" cy="46843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F1DFF6-3D03-68B4-5FEC-B4BC59BD01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7379" y="4324575"/>
            <a:ext cx="2438400" cy="2438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CD3D50C-B475-77CC-82B7-62BC1A2E19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6165" y="4509654"/>
            <a:ext cx="367145" cy="36714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6215AE8-CAFF-F090-D083-ABFA01383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8950" y="4400550"/>
            <a:ext cx="952500" cy="9525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595CF6E-9335-80DB-9BD0-CE0ACC8F0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5600" y="4267200"/>
            <a:ext cx="1219200" cy="1219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02E9FAC-0B27-61DD-32E3-41D9E1C69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0" y="4267200"/>
            <a:ext cx="1219200" cy="1219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CBF05ED-9E9F-18FE-C83E-623D44170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05600" y="4267200"/>
            <a:ext cx="1219200" cy="1219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D36BC2-36B1-6E0B-3DF9-DAE898B70E4A}"/>
                  </a:ext>
                </a:extLst>
              </p:cNvPr>
              <p:cNvSpPr txBox="1"/>
              <p:nvPr/>
            </p:nvSpPr>
            <p:spPr>
              <a:xfrm>
                <a:off x="5871883" y="2411879"/>
                <a:ext cx="1145762" cy="2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D36BC2-36B1-6E0B-3DF9-DAE898B70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883" y="2411879"/>
                <a:ext cx="1145762" cy="278025"/>
              </a:xfrm>
              <a:prstGeom prst="rect">
                <a:avLst/>
              </a:prstGeom>
              <a:blipFill>
                <a:blip r:embed="rId12"/>
                <a:stretch>
                  <a:fillRect l="-4255" r="-106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CEAFAA-7118-52BC-4112-FDE9BB446B61}"/>
                  </a:ext>
                </a:extLst>
              </p:cNvPr>
              <p:cNvSpPr txBox="1"/>
              <p:nvPr/>
            </p:nvSpPr>
            <p:spPr>
              <a:xfrm>
                <a:off x="5649233" y="2805324"/>
                <a:ext cx="1740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CEAFAA-7118-52BC-4112-FDE9BB446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233" y="2805324"/>
                <a:ext cx="1740348" cy="276999"/>
              </a:xfrm>
              <a:prstGeom prst="rect">
                <a:avLst/>
              </a:prstGeom>
              <a:blipFill>
                <a:blip r:embed="rId13"/>
                <a:stretch>
                  <a:fillRect l="-2807" r="-35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26C051-BCDF-A027-2E66-CC29BABD26D2}"/>
                  </a:ext>
                </a:extLst>
              </p:cNvPr>
              <p:cNvSpPr txBox="1"/>
              <p:nvPr/>
            </p:nvSpPr>
            <p:spPr>
              <a:xfrm>
                <a:off x="8020049" y="2370914"/>
                <a:ext cx="133434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ext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26C051-BCDF-A027-2E66-CC29BABD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49" y="2370914"/>
                <a:ext cx="1334340" cy="299313"/>
              </a:xfrm>
              <a:prstGeom prst="rect">
                <a:avLst/>
              </a:prstGeom>
              <a:blipFill>
                <a:blip r:embed="rId14"/>
                <a:stretch>
                  <a:fillRect l="-2283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3CE4E3-2606-3608-84D5-EF966DB85DFD}"/>
                  </a:ext>
                </a:extLst>
              </p:cNvPr>
              <p:cNvSpPr txBox="1"/>
              <p:nvPr/>
            </p:nvSpPr>
            <p:spPr>
              <a:xfrm>
                <a:off x="7791450" y="2733582"/>
                <a:ext cx="1981760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3CE4E3-2606-3608-84D5-EF966DB85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450" y="2733582"/>
                <a:ext cx="1981760" cy="318421"/>
              </a:xfrm>
              <a:prstGeom prst="rect">
                <a:avLst/>
              </a:prstGeom>
              <a:blipFill>
                <a:blip r:embed="rId15"/>
                <a:stretch>
                  <a:fillRect l="-1231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149951C-20C1-A013-A393-D9520F13A2A4}"/>
              </a:ext>
            </a:extLst>
          </p:cNvPr>
          <p:cNvSpPr txBox="1"/>
          <p:nvPr/>
        </p:nvSpPr>
        <p:spPr>
          <a:xfrm>
            <a:off x="6548284" y="1460090"/>
            <a:ext cx="449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文章，</a:t>
            </a:r>
            <a:r>
              <a:rPr lang="en-US" altLang="zh-CN" dirty="0"/>
              <a:t>j </a:t>
            </a:r>
            <a:r>
              <a:rPr lang="zh-CN" altLang="en-US" dirty="0"/>
              <a:t>提取的主题，</a:t>
            </a:r>
            <a:r>
              <a:rPr lang="en-US" altLang="zh-CN" dirty="0"/>
              <a:t>m</a:t>
            </a:r>
            <a:r>
              <a:rPr lang="zh-CN" altLang="en-US" dirty="0"/>
              <a:t>是</a:t>
            </a:r>
            <a:r>
              <a:rPr lang="en-US" altLang="zh-CN" dirty="0"/>
              <a:t>synthesis</a:t>
            </a:r>
            <a:r>
              <a:rPr lang="zh-CN" altLang="en-US" dirty="0"/>
              <a:t>的</a:t>
            </a:r>
            <a:r>
              <a:rPr lang="en-US" altLang="zh-CN" dirty="0"/>
              <a:t>type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D1D8E66-85C3-97F0-FFDC-50E665CFC2A6}"/>
                  </a:ext>
                </a:extLst>
              </p:cNvPr>
              <p:cNvSpPr txBox="1"/>
              <p:nvPr/>
            </p:nvSpPr>
            <p:spPr>
              <a:xfrm>
                <a:off x="10495961" y="2374166"/>
                <a:ext cx="2286652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:</m:t>
                          </m:r>
                          <m:func>
                            <m:func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topic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D1D8E66-85C3-97F0-FFDC-50E665CFC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5961" y="2374166"/>
                <a:ext cx="2286652" cy="299313"/>
              </a:xfrm>
              <a:prstGeom prst="rect">
                <a:avLst/>
              </a:prstGeom>
              <a:blipFill>
                <a:blip r:embed="rId16"/>
                <a:stretch>
                  <a:fillRect l="-2133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9DC1BD-F272-51F8-6A19-A06F86EBD3C1}"/>
                  </a:ext>
                </a:extLst>
              </p:cNvPr>
              <p:cNvSpPr txBox="1"/>
              <p:nvPr/>
            </p:nvSpPr>
            <p:spPr>
              <a:xfrm>
                <a:off x="10495961" y="3145505"/>
                <a:ext cx="2489528" cy="318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9DC1BD-F272-51F8-6A19-A06F86EBD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5961" y="3145505"/>
                <a:ext cx="2489528" cy="318421"/>
              </a:xfrm>
              <a:prstGeom prst="rect">
                <a:avLst/>
              </a:prstGeom>
              <a:blipFill>
                <a:blip r:embed="rId17"/>
                <a:stretch>
                  <a:fillRect l="-1961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2377BF5-6EF6-B72A-3386-2E502A314661}"/>
                  </a:ext>
                </a:extLst>
              </p:cNvPr>
              <p:cNvSpPr txBox="1"/>
              <p:nvPr/>
            </p:nvSpPr>
            <p:spPr>
              <a:xfrm>
                <a:off x="11046760" y="3495758"/>
                <a:ext cx="1557670" cy="3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syn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2377BF5-6EF6-B72A-3386-2E502A314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760" y="3495758"/>
                <a:ext cx="1557670" cy="302519"/>
              </a:xfrm>
              <a:prstGeom prst="rect">
                <a:avLst/>
              </a:prstGeom>
              <a:blipFill>
                <a:blip r:embed="rId18"/>
                <a:stretch>
                  <a:fillRect l="-2734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Graphic 47">
            <a:extLst>
              <a:ext uri="{FF2B5EF4-FFF2-40B4-BE49-F238E27FC236}">
                <a16:creationId xmlns:a16="http://schemas.microsoft.com/office/drawing/2014/main" id="{313E886E-8B52-0369-975C-AA1BAA3AD9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57429" y="4420728"/>
            <a:ext cx="578453" cy="578453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876C625-B59A-FA87-63F0-62F9F66F3F2D}"/>
              </a:ext>
            </a:extLst>
          </p:cNvPr>
          <p:cNvSpPr>
            <a:spLocks noGrp="1"/>
          </p:cNvSpPr>
          <p:nvPr/>
        </p:nvSpPr>
        <p:spPr>
          <a:xfrm>
            <a:off x="12116477" y="4502252"/>
            <a:ext cx="1614486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050" b="1" i="0" dirty="0">
                <a:solidFill>
                  <a:srgbClr val="684884"/>
                </a:solidFill>
                <a:latin typeface="Arial"/>
                <a:ea typeface="Arial"/>
                <a:cs typeface="Arial"/>
              </a:rPr>
              <a:t>Official Sources</a:t>
            </a:r>
          </a:p>
          <a:p>
            <a:pPr lvl="0"/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Government agencies </a:t>
            </a:r>
          </a:p>
          <a:p>
            <a:pPr lvl="0"/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Reservoir operators </a:t>
            </a:r>
          </a:p>
          <a:p>
            <a:pPr lvl="0"/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Official manuals</a:t>
            </a:r>
          </a:p>
          <a:p>
            <a:pPr lvl="0"/>
            <a:endParaRPr lang="en-US" sz="800" b="1" dirty="0">
              <a:solidFill>
                <a:srgbClr val="4B5563"/>
              </a:solidFill>
              <a:latin typeface="Arial"/>
              <a:cs typeface="Arial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20A7DE69-8F3D-2201-7D23-EEE925329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473016" y="5168529"/>
            <a:ext cx="543068" cy="543068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E196E62D-9674-BA3E-F01D-10A934F2C2CA}"/>
              </a:ext>
            </a:extLst>
          </p:cNvPr>
          <p:cNvSpPr>
            <a:spLocks noGrp="1"/>
          </p:cNvSpPr>
          <p:nvPr/>
        </p:nvSpPr>
        <p:spPr>
          <a:xfrm>
            <a:off x="12109098" y="5230577"/>
            <a:ext cx="1600201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44696"/>
                </a:solidFill>
                <a:latin typeface="Arial"/>
                <a:ea typeface="Arial"/>
                <a:cs typeface="Arial"/>
              </a:rPr>
              <a:t>Scientific Research</a:t>
            </a:r>
            <a:endParaRPr lang="en-US" sz="1050" b="1" i="0" dirty="0">
              <a:solidFill>
                <a:srgbClr val="684884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Journal Papers</a:t>
            </a:r>
          </a:p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Technical Report</a:t>
            </a:r>
          </a:p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Research institutes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86FE8701-67DB-CF8C-3D26-63D4EF3A36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508641" y="5939363"/>
            <a:ext cx="496532" cy="496532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BC0244F-5569-0FF5-6D57-5C530DC13CC6}"/>
              </a:ext>
            </a:extLst>
          </p:cNvPr>
          <p:cNvSpPr>
            <a:spLocks noGrp="1"/>
          </p:cNvSpPr>
          <p:nvPr/>
        </p:nvSpPr>
        <p:spPr>
          <a:xfrm>
            <a:off x="12122340" y="5977473"/>
            <a:ext cx="1600201" cy="923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2F732B"/>
                </a:solidFill>
                <a:latin typeface="Arial"/>
                <a:ea typeface="Arial"/>
                <a:cs typeface="Arial"/>
              </a:rPr>
              <a:t>Public Sources</a:t>
            </a:r>
            <a:endParaRPr lang="en-US" sz="1050" b="1" i="0" dirty="0">
              <a:solidFill>
                <a:srgbClr val="684884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Public Websites</a:t>
            </a:r>
          </a:p>
          <a:p>
            <a:pPr>
              <a:lnSpc>
                <a:spcPct val="108000"/>
              </a:lnSpc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Community</a:t>
            </a:r>
          </a:p>
          <a:p>
            <a:pPr algn="l">
              <a:lnSpc>
                <a:spcPct val="108000"/>
              </a:lnSpc>
              <a:buNone/>
              <a:defRPr sz="105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News</a:t>
            </a:r>
          </a:p>
        </p:txBody>
      </p:sp>
    </p:spTree>
    <p:extLst>
      <p:ext uri="{BB962C8B-B14F-4D97-AF65-F5344CB8AC3E}">
        <p14:creationId xmlns:p14="http://schemas.microsoft.com/office/powerpoint/2010/main" val="23352764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DocSecurity>0</DocSecurity>
  <PresentationFormat>Custom</PresentationFormat>
  <Paragraphs>108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Zheng, Zihan</cp:lastModifiedBy>
  <cp:revision>1</cp:revision>
  <dcterms:created xsi:type="dcterms:W3CDTF">2026-07-29T19:20:21Z</dcterms:created>
  <dcterms:modified xsi:type="dcterms:W3CDTF">2026-07-30T19:09:22Z</dcterms:modified>
</cp:coreProperties>
</file>